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2" r:id="rId4"/>
  </p:sldMasterIdLst>
  <p:notesMasterIdLst>
    <p:notesMasterId r:id="rId30"/>
  </p:notesMasterIdLst>
  <p:sldIdLst>
    <p:sldId id="256" r:id="rId5"/>
    <p:sldId id="269" r:id="rId6"/>
    <p:sldId id="270" r:id="rId7"/>
    <p:sldId id="257" r:id="rId8"/>
    <p:sldId id="262" r:id="rId9"/>
    <p:sldId id="268" r:id="rId10"/>
    <p:sldId id="274" r:id="rId11"/>
    <p:sldId id="272" r:id="rId12"/>
    <p:sldId id="276" r:id="rId13"/>
    <p:sldId id="273" r:id="rId14"/>
    <p:sldId id="275" r:id="rId15"/>
    <p:sldId id="277" r:id="rId16"/>
    <p:sldId id="271" r:id="rId17"/>
    <p:sldId id="263" r:id="rId18"/>
    <p:sldId id="278" r:id="rId19"/>
    <p:sldId id="279" r:id="rId20"/>
    <p:sldId id="280" r:id="rId21"/>
    <p:sldId id="281" r:id="rId22"/>
    <p:sldId id="284" r:id="rId23"/>
    <p:sldId id="282" r:id="rId24"/>
    <p:sldId id="267" r:id="rId25"/>
    <p:sldId id="265" r:id="rId26"/>
    <p:sldId id="264" r:id="rId27"/>
    <p:sldId id="266"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77" d="100"/>
          <a:sy n="77" d="100"/>
        </p:scale>
        <p:origin x="228"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4C2956-05F6-4DC5-8798-6F484C220AEE}" type="doc">
      <dgm:prSet loTypeId="urn:microsoft.com/office/officeart/2005/8/layout/process1" loCatId="process" qsTypeId="urn:microsoft.com/office/officeart/2005/8/quickstyle/simple1" qsCatId="simple" csTypeId="urn:microsoft.com/office/officeart/2005/8/colors/accent1_2" csCatId="accent1" phldr="1"/>
      <dgm:spPr/>
    </dgm:pt>
    <dgm:pt modelId="{BA3C503A-A47D-41C5-A66C-DFF17CD60ADC}">
      <dgm:prSet phldrT="[Text]"/>
      <dgm:spPr/>
      <dgm:t>
        <a:bodyPr/>
        <a:lstStyle/>
        <a:p>
          <a:r>
            <a:rPr lang="en-US" dirty="0"/>
            <a:t>Teaching/Researching</a:t>
          </a:r>
        </a:p>
        <a:p>
          <a:r>
            <a:rPr lang="en-US" dirty="0"/>
            <a:t>~2015</a:t>
          </a:r>
        </a:p>
      </dgm:t>
    </dgm:pt>
    <dgm:pt modelId="{4147C098-4A48-4392-8496-9FA95D299FB4}" type="parTrans" cxnId="{EBE48727-F966-4FAF-8768-0CCF3F12EB25}">
      <dgm:prSet/>
      <dgm:spPr/>
      <dgm:t>
        <a:bodyPr/>
        <a:lstStyle/>
        <a:p>
          <a:endParaRPr lang="en-US"/>
        </a:p>
      </dgm:t>
    </dgm:pt>
    <dgm:pt modelId="{4C80B0AB-3FD0-4AB5-927C-E670EBC63EFF}" type="sibTrans" cxnId="{EBE48727-F966-4FAF-8768-0CCF3F12EB25}">
      <dgm:prSet/>
      <dgm:spPr/>
      <dgm:t>
        <a:bodyPr/>
        <a:lstStyle/>
        <a:p>
          <a:endParaRPr lang="en-US"/>
        </a:p>
      </dgm:t>
    </dgm:pt>
    <dgm:pt modelId="{3786C5A7-1E2A-4291-984B-D699B3342CE5}">
      <dgm:prSet phldrT="[Text]"/>
      <dgm:spPr/>
      <dgm:t>
        <a:bodyPr/>
        <a:lstStyle/>
        <a:p>
          <a:r>
            <a:rPr lang="en-US" dirty="0"/>
            <a:t>Consultant</a:t>
          </a:r>
        </a:p>
        <a:p>
          <a:r>
            <a:rPr lang="en-US" dirty="0"/>
            <a:t>(2012~2015)</a:t>
          </a:r>
        </a:p>
      </dgm:t>
    </dgm:pt>
    <dgm:pt modelId="{C3E0DAF9-5FF2-4B5D-8B6E-B4905E1B7047}" type="parTrans" cxnId="{4869C407-AE82-4506-AF0B-1C7E2AF598B1}">
      <dgm:prSet/>
      <dgm:spPr/>
      <dgm:t>
        <a:bodyPr/>
        <a:lstStyle/>
        <a:p>
          <a:endParaRPr lang="en-US"/>
        </a:p>
      </dgm:t>
    </dgm:pt>
    <dgm:pt modelId="{CF2A3CEE-8736-49FC-81CD-F5947603E122}" type="sibTrans" cxnId="{4869C407-AE82-4506-AF0B-1C7E2AF598B1}">
      <dgm:prSet/>
      <dgm:spPr/>
      <dgm:t>
        <a:bodyPr/>
        <a:lstStyle/>
        <a:p>
          <a:endParaRPr lang="en-US"/>
        </a:p>
      </dgm:t>
    </dgm:pt>
    <dgm:pt modelId="{01E40F94-F362-446F-9946-CA2455783E77}">
      <dgm:prSet phldrT="[Text]"/>
      <dgm:spPr/>
      <dgm:t>
        <a:bodyPr/>
        <a:lstStyle/>
        <a:p>
          <a:r>
            <a:rPr lang="en-US" dirty="0"/>
            <a:t>Business</a:t>
          </a:r>
        </a:p>
        <a:p>
          <a:r>
            <a:rPr lang="en-US" dirty="0"/>
            <a:t>(2015~)</a:t>
          </a:r>
        </a:p>
      </dgm:t>
    </dgm:pt>
    <dgm:pt modelId="{F4E2C3F8-37A6-40ED-8B8E-D30D5635BA33}" type="parTrans" cxnId="{5B79B532-8DAA-4AD5-836D-F9293AA07193}">
      <dgm:prSet/>
      <dgm:spPr/>
      <dgm:t>
        <a:bodyPr/>
        <a:lstStyle/>
        <a:p>
          <a:endParaRPr lang="en-US"/>
        </a:p>
      </dgm:t>
    </dgm:pt>
    <dgm:pt modelId="{0F777242-28E8-49D2-B7A6-0445C3DC01B5}" type="sibTrans" cxnId="{5B79B532-8DAA-4AD5-836D-F9293AA07193}">
      <dgm:prSet/>
      <dgm:spPr/>
      <dgm:t>
        <a:bodyPr/>
        <a:lstStyle/>
        <a:p>
          <a:endParaRPr lang="en-US"/>
        </a:p>
      </dgm:t>
    </dgm:pt>
    <dgm:pt modelId="{F1D95E65-1A6D-41B8-AD80-4E6D6C39B5E5}" type="pres">
      <dgm:prSet presAssocID="{3C4C2956-05F6-4DC5-8798-6F484C220AEE}" presName="Name0" presStyleCnt="0">
        <dgm:presLayoutVars>
          <dgm:dir/>
          <dgm:resizeHandles val="exact"/>
        </dgm:presLayoutVars>
      </dgm:prSet>
      <dgm:spPr/>
    </dgm:pt>
    <dgm:pt modelId="{952C4693-8B93-418B-BA31-CEADAD872698}" type="pres">
      <dgm:prSet presAssocID="{BA3C503A-A47D-41C5-A66C-DFF17CD60ADC}" presName="node" presStyleLbl="node1" presStyleIdx="0" presStyleCnt="3" custLinFactNeighborX="-5067" custLinFactNeighborY="-81441">
        <dgm:presLayoutVars>
          <dgm:bulletEnabled val="1"/>
        </dgm:presLayoutVars>
      </dgm:prSet>
      <dgm:spPr/>
    </dgm:pt>
    <dgm:pt modelId="{C2543B7B-998A-4B7B-BF46-CC2B86E0AD15}" type="pres">
      <dgm:prSet presAssocID="{4C80B0AB-3FD0-4AB5-927C-E670EBC63EFF}" presName="sibTrans" presStyleLbl="sibTrans2D1" presStyleIdx="0" presStyleCnt="2"/>
      <dgm:spPr/>
    </dgm:pt>
    <dgm:pt modelId="{8F564A00-26A6-47C6-BBE2-6B9FB687298C}" type="pres">
      <dgm:prSet presAssocID="{4C80B0AB-3FD0-4AB5-927C-E670EBC63EFF}" presName="connectorText" presStyleLbl="sibTrans2D1" presStyleIdx="0" presStyleCnt="2"/>
      <dgm:spPr/>
    </dgm:pt>
    <dgm:pt modelId="{BB5AEB06-50D9-4C6F-8C8B-DE057B8B696E}" type="pres">
      <dgm:prSet presAssocID="{3786C5A7-1E2A-4291-984B-D699B3342CE5}" presName="node" presStyleLbl="node1" presStyleIdx="1" presStyleCnt="3" custLinFactNeighborX="-5067" custLinFactNeighborY="-81441">
        <dgm:presLayoutVars>
          <dgm:bulletEnabled val="1"/>
        </dgm:presLayoutVars>
      </dgm:prSet>
      <dgm:spPr/>
    </dgm:pt>
    <dgm:pt modelId="{567F8C60-4079-4865-8BCA-FF79A41D1E5F}" type="pres">
      <dgm:prSet presAssocID="{CF2A3CEE-8736-49FC-81CD-F5947603E122}" presName="sibTrans" presStyleLbl="sibTrans2D1" presStyleIdx="1" presStyleCnt="2"/>
      <dgm:spPr/>
    </dgm:pt>
    <dgm:pt modelId="{090AA75B-E935-4C1D-94F1-10E94E3A23FB}" type="pres">
      <dgm:prSet presAssocID="{CF2A3CEE-8736-49FC-81CD-F5947603E122}" presName="connectorText" presStyleLbl="sibTrans2D1" presStyleIdx="1" presStyleCnt="2"/>
      <dgm:spPr/>
    </dgm:pt>
    <dgm:pt modelId="{9EC8FAC5-8A30-4C57-A679-2CA243BDE1EF}" type="pres">
      <dgm:prSet presAssocID="{01E40F94-F362-446F-9946-CA2455783E77}" presName="node" presStyleLbl="node1" presStyleIdx="2" presStyleCnt="3" custLinFactNeighborX="-5067" custLinFactNeighborY="-81441">
        <dgm:presLayoutVars>
          <dgm:bulletEnabled val="1"/>
        </dgm:presLayoutVars>
      </dgm:prSet>
      <dgm:spPr/>
    </dgm:pt>
  </dgm:ptLst>
  <dgm:cxnLst>
    <dgm:cxn modelId="{4869C407-AE82-4506-AF0B-1C7E2AF598B1}" srcId="{3C4C2956-05F6-4DC5-8798-6F484C220AEE}" destId="{3786C5A7-1E2A-4291-984B-D699B3342CE5}" srcOrd="1" destOrd="0" parTransId="{C3E0DAF9-5FF2-4B5D-8B6E-B4905E1B7047}" sibTransId="{CF2A3CEE-8736-49FC-81CD-F5947603E122}"/>
    <dgm:cxn modelId="{44C0F318-EF79-4973-A4DA-40EA60199C5B}" type="presOf" srcId="{3786C5A7-1E2A-4291-984B-D699B3342CE5}" destId="{BB5AEB06-50D9-4C6F-8C8B-DE057B8B696E}" srcOrd="0" destOrd="0" presId="urn:microsoft.com/office/officeart/2005/8/layout/process1"/>
    <dgm:cxn modelId="{EBE48727-F966-4FAF-8768-0CCF3F12EB25}" srcId="{3C4C2956-05F6-4DC5-8798-6F484C220AEE}" destId="{BA3C503A-A47D-41C5-A66C-DFF17CD60ADC}" srcOrd="0" destOrd="0" parTransId="{4147C098-4A48-4392-8496-9FA95D299FB4}" sibTransId="{4C80B0AB-3FD0-4AB5-927C-E670EBC63EFF}"/>
    <dgm:cxn modelId="{5B79B532-8DAA-4AD5-836D-F9293AA07193}" srcId="{3C4C2956-05F6-4DC5-8798-6F484C220AEE}" destId="{01E40F94-F362-446F-9946-CA2455783E77}" srcOrd="2" destOrd="0" parTransId="{F4E2C3F8-37A6-40ED-8B8E-D30D5635BA33}" sibTransId="{0F777242-28E8-49D2-B7A6-0445C3DC01B5}"/>
    <dgm:cxn modelId="{E8FF9B61-1477-44FD-AD2C-E792DDF4240B}" type="presOf" srcId="{BA3C503A-A47D-41C5-A66C-DFF17CD60ADC}" destId="{952C4693-8B93-418B-BA31-CEADAD872698}" srcOrd="0" destOrd="0" presId="urn:microsoft.com/office/officeart/2005/8/layout/process1"/>
    <dgm:cxn modelId="{BFB5E868-41F7-41A5-BE52-1801B58BACA2}" type="presOf" srcId="{CF2A3CEE-8736-49FC-81CD-F5947603E122}" destId="{090AA75B-E935-4C1D-94F1-10E94E3A23FB}" srcOrd="1" destOrd="0" presId="urn:microsoft.com/office/officeart/2005/8/layout/process1"/>
    <dgm:cxn modelId="{55CC5953-1A2D-4E1C-B8F6-25796BF2413D}" type="presOf" srcId="{01E40F94-F362-446F-9946-CA2455783E77}" destId="{9EC8FAC5-8A30-4C57-A679-2CA243BDE1EF}" srcOrd="0" destOrd="0" presId="urn:microsoft.com/office/officeart/2005/8/layout/process1"/>
    <dgm:cxn modelId="{1156509B-1456-45BF-AFC4-76F240493728}" type="presOf" srcId="{CF2A3CEE-8736-49FC-81CD-F5947603E122}" destId="{567F8C60-4079-4865-8BCA-FF79A41D1E5F}" srcOrd="0" destOrd="0" presId="urn:microsoft.com/office/officeart/2005/8/layout/process1"/>
    <dgm:cxn modelId="{DCE4EBA1-5C3D-46A0-9390-D42F0F1DCA36}" type="presOf" srcId="{3C4C2956-05F6-4DC5-8798-6F484C220AEE}" destId="{F1D95E65-1A6D-41B8-AD80-4E6D6C39B5E5}" srcOrd="0" destOrd="0" presId="urn:microsoft.com/office/officeart/2005/8/layout/process1"/>
    <dgm:cxn modelId="{9D3B0AA3-8BE2-41DD-B35F-39EF330083D5}" type="presOf" srcId="{4C80B0AB-3FD0-4AB5-927C-E670EBC63EFF}" destId="{8F564A00-26A6-47C6-BBE2-6B9FB687298C}" srcOrd="1" destOrd="0" presId="urn:microsoft.com/office/officeart/2005/8/layout/process1"/>
    <dgm:cxn modelId="{C35957AD-4087-4203-AB05-2075B3A00D19}" type="presOf" srcId="{4C80B0AB-3FD0-4AB5-927C-E670EBC63EFF}" destId="{C2543B7B-998A-4B7B-BF46-CC2B86E0AD15}" srcOrd="0" destOrd="0" presId="urn:microsoft.com/office/officeart/2005/8/layout/process1"/>
    <dgm:cxn modelId="{E027D07B-3254-4A9A-9E25-4F4457B9ECF4}" type="presParOf" srcId="{F1D95E65-1A6D-41B8-AD80-4E6D6C39B5E5}" destId="{952C4693-8B93-418B-BA31-CEADAD872698}" srcOrd="0" destOrd="0" presId="urn:microsoft.com/office/officeart/2005/8/layout/process1"/>
    <dgm:cxn modelId="{7ACCF760-E657-4757-A831-0CCEE45E264F}" type="presParOf" srcId="{F1D95E65-1A6D-41B8-AD80-4E6D6C39B5E5}" destId="{C2543B7B-998A-4B7B-BF46-CC2B86E0AD15}" srcOrd="1" destOrd="0" presId="urn:microsoft.com/office/officeart/2005/8/layout/process1"/>
    <dgm:cxn modelId="{A8DAC5D3-7E7B-48EA-B752-C18DE3AE581C}" type="presParOf" srcId="{C2543B7B-998A-4B7B-BF46-CC2B86E0AD15}" destId="{8F564A00-26A6-47C6-BBE2-6B9FB687298C}" srcOrd="0" destOrd="0" presId="urn:microsoft.com/office/officeart/2005/8/layout/process1"/>
    <dgm:cxn modelId="{4803D022-A471-4F71-9D10-AE490762CFD6}" type="presParOf" srcId="{F1D95E65-1A6D-41B8-AD80-4E6D6C39B5E5}" destId="{BB5AEB06-50D9-4C6F-8C8B-DE057B8B696E}" srcOrd="2" destOrd="0" presId="urn:microsoft.com/office/officeart/2005/8/layout/process1"/>
    <dgm:cxn modelId="{C8CADC30-0E2B-4404-8198-2360A9C2EB21}" type="presParOf" srcId="{F1D95E65-1A6D-41B8-AD80-4E6D6C39B5E5}" destId="{567F8C60-4079-4865-8BCA-FF79A41D1E5F}" srcOrd="3" destOrd="0" presId="urn:microsoft.com/office/officeart/2005/8/layout/process1"/>
    <dgm:cxn modelId="{43103895-BD86-4BC6-B2CD-278EB2E5B67A}" type="presParOf" srcId="{567F8C60-4079-4865-8BCA-FF79A41D1E5F}" destId="{090AA75B-E935-4C1D-94F1-10E94E3A23FB}" srcOrd="0" destOrd="0" presId="urn:microsoft.com/office/officeart/2005/8/layout/process1"/>
    <dgm:cxn modelId="{81A217CC-6DC8-4E5C-BA7B-FE6DD146283A}" type="presParOf" srcId="{F1D95E65-1A6D-41B8-AD80-4E6D6C39B5E5}" destId="{9EC8FAC5-8A30-4C57-A679-2CA243BDE1EF}"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2C4693-8B93-418B-BA31-CEADAD872698}">
      <dsp:nvSpPr>
        <dsp:cNvPr id="0" name=""/>
        <dsp:cNvSpPr/>
      </dsp:nvSpPr>
      <dsp:spPr>
        <a:xfrm>
          <a:off x="0" y="0"/>
          <a:ext cx="2762398" cy="16574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Teaching/Researching</a:t>
          </a:r>
        </a:p>
        <a:p>
          <a:pPr marL="0" lvl="0" indent="0" algn="ctr" defTabSz="977900">
            <a:lnSpc>
              <a:spcPct val="90000"/>
            </a:lnSpc>
            <a:spcBef>
              <a:spcPct val="0"/>
            </a:spcBef>
            <a:spcAft>
              <a:spcPct val="35000"/>
            </a:spcAft>
            <a:buNone/>
          </a:pPr>
          <a:r>
            <a:rPr lang="en-US" sz="2200" kern="1200" dirty="0"/>
            <a:t>~2015</a:t>
          </a:r>
        </a:p>
      </dsp:txBody>
      <dsp:txXfrm>
        <a:off x="48545" y="48545"/>
        <a:ext cx="2665308" cy="1560349"/>
      </dsp:txXfrm>
    </dsp:sp>
    <dsp:sp modelId="{C2543B7B-998A-4B7B-BF46-CC2B86E0AD15}">
      <dsp:nvSpPr>
        <dsp:cNvPr id="0" name=""/>
        <dsp:cNvSpPr/>
      </dsp:nvSpPr>
      <dsp:spPr>
        <a:xfrm>
          <a:off x="3026952" y="486182"/>
          <a:ext cx="560853"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3026952" y="623197"/>
        <a:ext cx="392597" cy="411044"/>
      </dsp:txXfrm>
    </dsp:sp>
    <dsp:sp modelId="{BB5AEB06-50D9-4C6F-8C8B-DE057B8B696E}">
      <dsp:nvSpPr>
        <dsp:cNvPr id="0" name=""/>
        <dsp:cNvSpPr/>
      </dsp:nvSpPr>
      <dsp:spPr>
        <a:xfrm>
          <a:off x="3820612" y="0"/>
          <a:ext cx="2762398" cy="16574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Consultant</a:t>
          </a:r>
        </a:p>
        <a:p>
          <a:pPr marL="0" lvl="0" indent="0" algn="ctr" defTabSz="977900">
            <a:lnSpc>
              <a:spcPct val="90000"/>
            </a:lnSpc>
            <a:spcBef>
              <a:spcPct val="0"/>
            </a:spcBef>
            <a:spcAft>
              <a:spcPct val="35000"/>
            </a:spcAft>
            <a:buNone/>
          </a:pPr>
          <a:r>
            <a:rPr lang="en-US" sz="2200" kern="1200" dirty="0"/>
            <a:t>(2012~2015)</a:t>
          </a:r>
        </a:p>
      </dsp:txBody>
      <dsp:txXfrm>
        <a:off x="3869157" y="48545"/>
        <a:ext cx="2665308" cy="1560349"/>
      </dsp:txXfrm>
    </dsp:sp>
    <dsp:sp modelId="{567F8C60-4079-4865-8BCA-FF79A41D1E5F}">
      <dsp:nvSpPr>
        <dsp:cNvPr id="0" name=""/>
        <dsp:cNvSpPr/>
      </dsp:nvSpPr>
      <dsp:spPr>
        <a:xfrm>
          <a:off x="6859250" y="486182"/>
          <a:ext cx="585628" cy="68507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6859250" y="623197"/>
        <a:ext cx="409940" cy="411044"/>
      </dsp:txXfrm>
    </dsp:sp>
    <dsp:sp modelId="{9EC8FAC5-8A30-4C57-A679-2CA243BDE1EF}">
      <dsp:nvSpPr>
        <dsp:cNvPr id="0" name=""/>
        <dsp:cNvSpPr/>
      </dsp:nvSpPr>
      <dsp:spPr>
        <a:xfrm>
          <a:off x="7687970" y="0"/>
          <a:ext cx="2762398" cy="1657439"/>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Business</a:t>
          </a:r>
        </a:p>
        <a:p>
          <a:pPr marL="0" lvl="0" indent="0" algn="ctr" defTabSz="977900">
            <a:lnSpc>
              <a:spcPct val="90000"/>
            </a:lnSpc>
            <a:spcBef>
              <a:spcPct val="0"/>
            </a:spcBef>
            <a:spcAft>
              <a:spcPct val="35000"/>
            </a:spcAft>
            <a:buNone/>
          </a:pPr>
          <a:r>
            <a:rPr lang="en-US" sz="2200" kern="1200" dirty="0"/>
            <a:t>(2015~)</a:t>
          </a:r>
        </a:p>
      </dsp:txBody>
      <dsp:txXfrm>
        <a:off x="7736515" y="48545"/>
        <a:ext cx="2665308" cy="156034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85661D-4B88-40AF-A8D5-E1B0D64DDDD9}" type="datetimeFigureOut">
              <a:rPr lang="en-US" smtClean="0"/>
              <a:t>12/19/2025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2BA0FC-DEA4-479C-91F1-EF51C6E52834}" type="slidenum">
              <a:rPr lang="en-US" smtClean="0"/>
              <a:t>‹#›</a:t>
            </a:fld>
            <a:endParaRPr lang="en-US"/>
          </a:p>
        </p:txBody>
      </p:sp>
    </p:spTree>
    <p:extLst>
      <p:ext uri="{BB962C8B-B14F-4D97-AF65-F5344CB8AC3E}">
        <p14:creationId xmlns:p14="http://schemas.microsoft.com/office/powerpoint/2010/main" val="3881189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C739315-62F9-4918-A6A2-8B4986AD825B}" type="datetime1">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218B2-9446-4C1C-B97F-2846FEECC8E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824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A4337D-4083-4C7E-B695-644863B06A07}" type="datetime1">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218B2-9446-4C1C-B97F-2846FEECC8E2}" type="slidenum">
              <a:rPr lang="en-US" smtClean="0"/>
              <a:t>‹#›</a:t>
            </a:fld>
            <a:endParaRPr lang="en-US"/>
          </a:p>
        </p:txBody>
      </p:sp>
    </p:spTree>
    <p:extLst>
      <p:ext uri="{BB962C8B-B14F-4D97-AF65-F5344CB8AC3E}">
        <p14:creationId xmlns:p14="http://schemas.microsoft.com/office/powerpoint/2010/main" val="3557809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E21D235-FFE5-4557-BABE-C0DA1E69B6BE}" type="datetime1">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218B2-9446-4C1C-B97F-2846FEECC8E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630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FBC192-9017-48FD-B1A6-5D793543997E}" type="datetime1">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218B2-9446-4C1C-B97F-2846FEECC8E2}" type="slidenum">
              <a:rPr lang="en-US" smtClean="0"/>
              <a:t>‹#›</a:t>
            </a:fld>
            <a:endParaRPr lang="en-US"/>
          </a:p>
        </p:txBody>
      </p:sp>
    </p:spTree>
    <p:extLst>
      <p:ext uri="{BB962C8B-B14F-4D97-AF65-F5344CB8AC3E}">
        <p14:creationId xmlns:p14="http://schemas.microsoft.com/office/powerpoint/2010/main" val="404389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6BBCD6-1D10-4BE2-AB53-E65D8090A931}" type="datetime1">
              <a:rPr lang="en-US" smtClean="0"/>
              <a:t>12/19/2025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6218B2-9446-4C1C-B97F-2846FEECC8E2}" type="slidenum">
              <a:rPr lang="en-US" smtClean="0"/>
              <a:t>‹#›</a:t>
            </a:fld>
            <a:endParaRPr lang="en-US"/>
          </a:p>
        </p:txBody>
      </p:sp>
    </p:spTree>
    <p:extLst>
      <p:ext uri="{BB962C8B-B14F-4D97-AF65-F5344CB8AC3E}">
        <p14:creationId xmlns:p14="http://schemas.microsoft.com/office/powerpoint/2010/main" val="833032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CE224C-4473-4F79-8BD2-91B568B4DEC2}" type="datetime1">
              <a:rPr lang="en-US" smtClean="0"/>
              <a:t>12/19/2025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6218B2-9446-4C1C-B97F-2846FEECC8E2}" type="slidenum">
              <a:rPr lang="en-US" smtClean="0"/>
              <a:t>‹#›</a:t>
            </a:fld>
            <a:endParaRPr lang="en-US"/>
          </a:p>
        </p:txBody>
      </p:sp>
    </p:spTree>
    <p:extLst>
      <p:ext uri="{BB962C8B-B14F-4D97-AF65-F5344CB8AC3E}">
        <p14:creationId xmlns:p14="http://schemas.microsoft.com/office/powerpoint/2010/main" val="3722366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D7CB5D-0EB9-40AF-ADC0-9C1BC5CC38C0}" type="datetime1">
              <a:rPr lang="en-US" smtClean="0"/>
              <a:t>12/19/2025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6218B2-9446-4C1C-B97F-2846FEECC8E2}" type="slidenum">
              <a:rPr lang="en-US" smtClean="0"/>
              <a:t>‹#›</a:t>
            </a:fld>
            <a:endParaRPr lang="en-US"/>
          </a:p>
        </p:txBody>
      </p:sp>
    </p:spTree>
    <p:extLst>
      <p:ext uri="{BB962C8B-B14F-4D97-AF65-F5344CB8AC3E}">
        <p14:creationId xmlns:p14="http://schemas.microsoft.com/office/powerpoint/2010/main" val="4046221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E53AEC-8EE2-446E-BA7C-39F6C9D0DF04}" type="datetime1">
              <a:rPr lang="en-US" smtClean="0"/>
              <a:t>12/19/2025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6218B2-9446-4C1C-B97F-2846FEECC8E2}" type="slidenum">
              <a:rPr lang="en-US" smtClean="0"/>
              <a:t>‹#›</a:t>
            </a:fld>
            <a:endParaRPr lang="en-US"/>
          </a:p>
        </p:txBody>
      </p:sp>
    </p:spTree>
    <p:extLst>
      <p:ext uri="{BB962C8B-B14F-4D97-AF65-F5344CB8AC3E}">
        <p14:creationId xmlns:p14="http://schemas.microsoft.com/office/powerpoint/2010/main" val="2955827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169600-9FD3-4E72-BCDC-F92FE412A785}" type="datetime1">
              <a:rPr lang="en-US" smtClean="0"/>
              <a:t>12/19/2025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F6218B2-9446-4C1C-B97F-2846FEECC8E2}"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721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832FA7-E632-4A3B-B4C2-98B16A6D3393}" type="datetime1">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218B2-9446-4C1C-B97F-2846FEECC8E2}" type="slidenum">
              <a:rPr lang="en-US" smtClean="0"/>
              <a:t>‹#›</a:t>
            </a:fld>
            <a:endParaRPr lang="en-US"/>
          </a:p>
        </p:txBody>
      </p:sp>
    </p:spTree>
    <p:extLst>
      <p:ext uri="{BB962C8B-B14F-4D97-AF65-F5344CB8AC3E}">
        <p14:creationId xmlns:p14="http://schemas.microsoft.com/office/powerpoint/2010/main" val="1823321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5BB4CF-4FEC-41CC-968D-922C9B499CCF}" type="datetime1">
              <a:rPr lang="en-US" smtClean="0"/>
              <a:t>12/19/2025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6218B2-9446-4C1C-B97F-2846FEECC8E2}"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930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D331511-8F37-4D8C-90FE-44E9CA197FCB}" type="datetime1">
              <a:rPr lang="en-US" smtClean="0"/>
              <a:t>12/19/2025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F6218B2-9446-4C1C-B97F-2846FEECC8E2}"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135669"/>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hf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1805-165D-47BE-9413-294FA07222E0}"/>
              </a:ext>
            </a:extLst>
          </p:cNvPr>
          <p:cNvSpPr>
            <a:spLocks noGrp="1"/>
          </p:cNvSpPr>
          <p:nvPr>
            <p:ph type="ctrTitle"/>
          </p:nvPr>
        </p:nvSpPr>
        <p:spPr/>
        <p:txBody>
          <a:bodyPr>
            <a:normAutofit/>
          </a:bodyPr>
          <a:lstStyle/>
          <a:p>
            <a:r>
              <a:rPr lang="en-US" dirty="0"/>
              <a:t>Transition from Academic to Business life</a:t>
            </a:r>
          </a:p>
        </p:txBody>
      </p:sp>
      <p:sp>
        <p:nvSpPr>
          <p:cNvPr id="3" name="Subtitle 2">
            <a:extLst>
              <a:ext uri="{FF2B5EF4-FFF2-40B4-BE49-F238E27FC236}">
                <a16:creationId xmlns:a16="http://schemas.microsoft.com/office/drawing/2014/main" id="{320C18A0-BCBF-4DA3-ADE5-2E70C3083BEB}"/>
              </a:ext>
            </a:extLst>
          </p:cNvPr>
          <p:cNvSpPr>
            <a:spLocks noGrp="1"/>
          </p:cNvSpPr>
          <p:nvPr>
            <p:ph type="subTitle" idx="1"/>
          </p:nvPr>
        </p:nvSpPr>
        <p:spPr/>
        <p:txBody>
          <a:bodyPr>
            <a:normAutofit lnSpcReduction="10000"/>
          </a:bodyPr>
          <a:lstStyle/>
          <a:p>
            <a:r>
              <a:rPr lang="en-US" dirty="0"/>
              <a:t>Dr. Vu Truong Thanh</a:t>
            </a:r>
          </a:p>
          <a:p>
            <a:r>
              <a:rPr lang="en-US" dirty="0"/>
              <a:t>Senior Manager, </a:t>
            </a:r>
            <a:r>
              <a:rPr lang="en-US"/>
              <a:t>Toshiba Asia </a:t>
            </a:r>
            <a:r>
              <a:rPr lang="en-US" dirty="0"/>
              <a:t>Pacific PTE. LTD.</a:t>
            </a:r>
          </a:p>
          <a:p>
            <a:r>
              <a:rPr lang="en-US" dirty="0"/>
              <a:t>Regional General Director, Toshiba Elevator Vietnam Co.</a:t>
            </a:r>
          </a:p>
        </p:txBody>
      </p:sp>
    </p:spTree>
    <p:extLst>
      <p:ext uri="{BB962C8B-B14F-4D97-AF65-F5344CB8AC3E}">
        <p14:creationId xmlns:p14="http://schemas.microsoft.com/office/powerpoint/2010/main" val="3883422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2FA4-52B4-4571-9DC7-4C36992B7729}"/>
              </a:ext>
            </a:extLst>
          </p:cNvPr>
          <p:cNvSpPr>
            <a:spLocks noGrp="1"/>
          </p:cNvSpPr>
          <p:nvPr>
            <p:ph type="title"/>
          </p:nvPr>
        </p:nvSpPr>
        <p:spPr/>
        <p:txBody>
          <a:bodyPr/>
          <a:lstStyle/>
          <a:p>
            <a:r>
              <a:rPr lang="en-US" dirty="0" err="1"/>
              <a:t>COntents</a:t>
            </a:r>
            <a:endParaRPr lang="en-US" dirty="0"/>
          </a:p>
        </p:txBody>
      </p:sp>
      <p:sp>
        <p:nvSpPr>
          <p:cNvPr id="3" name="Content Placeholder 2">
            <a:extLst>
              <a:ext uri="{FF2B5EF4-FFF2-40B4-BE49-F238E27FC236}">
                <a16:creationId xmlns:a16="http://schemas.microsoft.com/office/drawing/2014/main" id="{8278CD56-056E-4FD5-BA80-AD7D02BE0DB5}"/>
              </a:ext>
            </a:extLst>
          </p:cNvPr>
          <p:cNvSpPr>
            <a:spLocks noGrp="1"/>
          </p:cNvSpPr>
          <p:nvPr>
            <p:ph idx="1"/>
          </p:nvPr>
        </p:nvSpPr>
        <p:spPr/>
        <p:txBody>
          <a:bodyPr/>
          <a:lstStyle/>
          <a:p>
            <a:r>
              <a:rPr lang="en-US" dirty="0"/>
              <a:t>About myself &amp; my switch from Academy to Business </a:t>
            </a:r>
          </a:p>
          <a:p>
            <a:r>
              <a:rPr lang="en-US" dirty="0"/>
              <a:t>About Vietnamese Education System &amp; Current hot topics</a:t>
            </a:r>
          </a:p>
          <a:p>
            <a:r>
              <a:rPr lang="en-US" dirty="0"/>
              <a:t>About my current engineering interest</a:t>
            </a:r>
          </a:p>
          <a:p>
            <a:r>
              <a:rPr lang="en-US" dirty="0"/>
              <a:t>My favorite research and educational approach: Multi-Discipline</a:t>
            </a:r>
          </a:p>
        </p:txBody>
      </p:sp>
      <p:sp>
        <p:nvSpPr>
          <p:cNvPr id="4" name="Slide Number Placeholder 3">
            <a:extLst>
              <a:ext uri="{FF2B5EF4-FFF2-40B4-BE49-F238E27FC236}">
                <a16:creationId xmlns:a16="http://schemas.microsoft.com/office/drawing/2014/main" id="{90B5AD41-3C9B-4107-BA22-99A44302310B}"/>
              </a:ext>
            </a:extLst>
          </p:cNvPr>
          <p:cNvSpPr>
            <a:spLocks noGrp="1"/>
          </p:cNvSpPr>
          <p:nvPr>
            <p:ph type="sldNum" sz="quarter" idx="12"/>
          </p:nvPr>
        </p:nvSpPr>
        <p:spPr/>
        <p:txBody>
          <a:bodyPr/>
          <a:lstStyle/>
          <a:p>
            <a:fld id="{FF6218B2-9446-4C1C-B97F-2846FEECC8E2}" type="slidenum">
              <a:rPr lang="en-US" smtClean="0"/>
              <a:t>2</a:t>
            </a:fld>
            <a:endParaRPr lang="en-US"/>
          </a:p>
        </p:txBody>
      </p:sp>
    </p:spTree>
    <p:extLst>
      <p:ext uri="{BB962C8B-B14F-4D97-AF65-F5344CB8AC3E}">
        <p14:creationId xmlns:p14="http://schemas.microsoft.com/office/powerpoint/2010/main" val="1348029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1278-2286-4BE3-8807-2E06BDD731D8}"/>
              </a:ext>
            </a:extLst>
          </p:cNvPr>
          <p:cNvSpPr>
            <a:spLocks noGrp="1"/>
          </p:cNvSpPr>
          <p:nvPr>
            <p:ph type="title"/>
          </p:nvPr>
        </p:nvSpPr>
        <p:spPr/>
        <p:txBody>
          <a:bodyPr/>
          <a:lstStyle/>
          <a:p>
            <a:r>
              <a:rPr lang="en-US" dirty="0"/>
              <a:t>About my-self &amp; Change from academy to business</a:t>
            </a:r>
          </a:p>
        </p:txBody>
      </p:sp>
      <p:sp>
        <p:nvSpPr>
          <p:cNvPr id="3" name="Text Placeholder 2">
            <a:extLst>
              <a:ext uri="{FF2B5EF4-FFF2-40B4-BE49-F238E27FC236}">
                <a16:creationId xmlns:a16="http://schemas.microsoft.com/office/drawing/2014/main" id="{DE720960-CED9-4302-B16A-684779DAAB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816802-70B8-41AB-BFAE-E122CBDFC813}"/>
              </a:ext>
            </a:extLst>
          </p:cNvPr>
          <p:cNvSpPr>
            <a:spLocks noGrp="1"/>
          </p:cNvSpPr>
          <p:nvPr>
            <p:ph type="sldNum" sz="quarter" idx="12"/>
          </p:nvPr>
        </p:nvSpPr>
        <p:spPr/>
        <p:txBody>
          <a:bodyPr/>
          <a:lstStyle/>
          <a:p>
            <a:fld id="{FF6218B2-9446-4C1C-B97F-2846FEECC8E2}" type="slidenum">
              <a:rPr lang="en-US" smtClean="0"/>
              <a:t>3</a:t>
            </a:fld>
            <a:endParaRPr lang="en-US"/>
          </a:p>
        </p:txBody>
      </p:sp>
    </p:spTree>
    <p:extLst>
      <p:ext uri="{BB962C8B-B14F-4D97-AF65-F5344CB8AC3E}">
        <p14:creationId xmlns:p14="http://schemas.microsoft.com/office/powerpoint/2010/main" val="2544533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DFF42-D8A8-4979-BCCD-79FDEEF1FE9C}"/>
              </a:ext>
            </a:extLst>
          </p:cNvPr>
          <p:cNvSpPr>
            <a:spLocks noGrp="1"/>
          </p:cNvSpPr>
          <p:nvPr>
            <p:ph type="title"/>
          </p:nvPr>
        </p:nvSpPr>
        <p:spPr/>
        <p:txBody>
          <a:bodyPr/>
          <a:lstStyle/>
          <a:p>
            <a:r>
              <a:rPr lang="en-US" dirty="0"/>
              <a:t>About myself</a:t>
            </a:r>
          </a:p>
        </p:txBody>
      </p:sp>
      <p:sp>
        <p:nvSpPr>
          <p:cNvPr id="8" name="Slide Number Placeholder 7">
            <a:extLst>
              <a:ext uri="{FF2B5EF4-FFF2-40B4-BE49-F238E27FC236}">
                <a16:creationId xmlns:a16="http://schemas.microsoft.com/office/drawing/2014/main" id="{0A931427-4B31-47B2-A916-233128F0995E}"/>
              </a:ext>
            </a:extLst>
          </p:cNvPr>
          <p:cNvSpPr>
            <a:spLocks noGrp="1"/>
          </p:cNvSpPr>
          <p:nvPr>
            <p:ph type="sldNum" sz="quarter" idx="12"/>
          </p:nvPr>
        </p:nvSpPr>
        <p:spPr/>
        <p:txBody>
          <a:bodyPr/>
          <a:lstStyle/>
          <a:p>
            <a:fld id="{FF6218B2-9446-4C1C-B97F-2846FEECC8E2}" type="slidenum">
              <a:rPr lang="en-US" smtClean="0"/>
              <a:t>4</a:t>
            </a:fld>
            <a:endParaRPr lang="en-US"/>
          </a:p>
        </p:txBody>
      </p:sp>
      <p:sp>
        <p:nvSpPr>
          <p:cNvPr id="4" name="コンテンツ プレースホルダー 2">
            <a:extLst>
              <a:ext uri="{FF2B5EF4-FFF2-40B4-BE49-F238E27FC236}">
                <a16:creationId xmlns:a16="http://schemas.microsoft.com/office/drawing/2014/main" id="{FA73630E-CB83-4018-8D50-350CA5907016}"/>
              </a:ext>
            </a:extLst>
          </p:cNvPr>
          <p:cNvSpPr txBox="1">
            <a:spLocks/>
          </p:cNvSpPr>
          <p:nvPr/>
        </p:nvSpPr>
        <p:spPr>
          <a:xfrm>
            <a:off x="6864153" y="3491445"/>
            <a:ext cx="4842655" cy="1740531"/>
          </a:xfrm>
          <a:prstGeom prst="rect">
            <a:avLst/>
          </a:prstGeom>
        </p:spPr>
        <p:txBody>
          <a:bodyPr>
            <a:noAutofit/>
          </a:bodyPr>
          <a:lstStyle>
            <a:lvl1pPr marL="171450" indent="-171450" algn="l" defTabSz="685800" rtl="0" eaLnBrk="1" latinLnBrk="0" hangingPunct="1">
              <a:lnSpc>
                <a:spcPct val="90000"/>
              </a:lnSpc>
              <a:spcBef>
                <a:spcPts val="750"/>
              </a:spcBef>
              <a:buFont typeface="Wingdings" charset="2"/>
              <a:buNone/>
              <a:defRPr kumimoji="1" lang="ja-JP" altLang="en-US" sz="2800" kern="1200" smtClean="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lang="ja-JP" altLang="en-US" sz="1800" kern="1200" smtClean="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lang="ja-JP" altLang="en-US" sz="1800" kern="1200" smtClean="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lang="ja-JP" altLang="en-US" sz="1800" kern="1200" smtClean="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lang="ja-JP" altLang="en-US"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algn="ctr"/>
            <a:r>
              <a:rPr lang="en-US" altLang="ja-JP" sz="2400" u="sng" dirty="0"/>
              <a:t>Full Name</a:t>
            </a:r>
            <a:r>
              <a:rPr lang="en-US" altLang="ja-JP" sz="2400" dirty="0"/>
              <a:t>: </a:t>
            </a:r>
            <a:r>
              <a:rPr lang="en-US" altLang="ja-JP" sz="2400" u="sng" dirty="0"/>
              <a:t>Vu</a:t>
            </a:r>
            <a:r>
              <a:rPr lang="en-US" altLang="ja-JP" sz="2400" dirty="0"/>
              <a:t> Truong Thanh</a:t>
            </a:r>
          </a:p>
          <a:p>
            <a:pPr algn="ctr"/>
            <a:r>
              <a:rPr lang="en-US" altLang="ja-JP" sz="2400" u="sng" dirty="0" err="1"/>
              <a:t>DoB</a:t>
            </a:r>
            <a:r>
              <a:rPr lang="en-US" altLang="ja-JP" sz="2400" dirty="0"/>
              <a:t>: 1976 November 09</a:t>
            </a:r>
            <a:r>
              <a:rPr lang="en-US" altLang="ja-JP" sz="2400" baseline="30000" dirty="0"/>
              <a:t>th </a:t>
            </a:r>
            <a:r>
              <a:rPr lang="en-US" altLang="ja-JP" sz="2400" dirty="0"/>
              <a:t>(50 </a:t>
            </a:r>
            <a:r>
              <a:rPr lang="en-US" altLang="ja-JP" sz="2400" dirty="0" err="1"/>
              <a:t>yrs</a:t>
            </a:r>
            <a:r>
              <a:rPr lang="en-US" altLang="ja-JP" sz="2400" dirty="0"/>
              <a:t> old) </a:t>
            </a:r>
            <a:endParaRPr lang="en-US" altLang="ja-JP" sz="2400" baseline="30000" dirty="0"/>
          </a:p>
          <a:p>
            <a:endParaRPr lang="en-US" altLang="ja-JP" sz="200" u="sng" dirty="0"/>
          </a:p>
        </p:txBody>
      </p:sp>
      <p:sp>
        <p:nvSpPr>
          <p:cNvPr id="5" name="コンテンツ プレースホルダー 2">
            <a:extLst>
              <a:ext uri="{FF2B5EF4-FFF2-40B4-BE49-F238E27FC236}">
                <a16:creationId xmlns:a16="http://schemas.microsoft.com/office/drawing/2014/main" id="{6AB6336F-B51F-4B2D-9116-8893D1975720}"/>
              </a:ext>
            </a:extLst>
          </p:cNvPr>
          <p:cNvSpPr txBox="1">
            <a:spLocks/>
          </p:cNvSpPr>
          <p:nvPr/>
        </p:nvSpPr>
        <p:spPr>
          <a:xfrm>
            <a:off x="755711" y="3765921"/>
            <a:ext cx="10105121" cy="2726954"/>
          </a:xfrm>
          <a:prstGeom prst="rect">
            <a:avLst/>
          </a:prstGeom>
        </p:spPr>
        <p:txBody>
          <a:bodyPr>
            <a:noAutofit/>
          </a:bodyPr>
          <a:lstStyle>
            <a:lvl1pPr marL="287338" indent="-287338" algn="l" rtl="0" eaLnBrk="0" fontAlgn="base" hangingPunct="0">
              <a:spcBef>
                <a:spcPct val="0"/>
              </a:spcBef>
              <a:spcAft>
                <a:spcPct val="25000"/>
              </a:spcAft>
              <a:buChar char="•"/>
              <a:defRPr sz="2400" b="1">
                <a:solidFill>
                  <a:schemeClr val="tx1"/>
                </a:solidFill>
                <a:latin typeface="+mn-lt"/>
                <a:ea typeface="+mn-ea"/>
                <a:cs typeface="+mn-cs"/>
              </a:defRPr>
            </a:lvl1pPr>
            <a:lvl2pPr marL="573088" indent="-284163" algn="l" rtl="0" eaLnBrk="0" fontAlgn="base" hangingPunct="0">
              <a:spcBef>
                <a:spcPct val="0"/>
              </a:spcBef>
              <a:spcAft>
                <a:spcPct val="25000"/>
              </a:spcAft>
              <a:buChar char="–"/>
              <a:defRPr sz="2000">
                <a:solidFill>
                  <a:schemeClr val="tx1"/>
                </a:solidFill>
                <a:latin typeface="+mn-lt"/>
                <a:ea typeface="+mn-ea"/>
              </a:defRPr>
            </a:lvl2pPr>
            <a:lvl3pPr marL="857250" indent="-282575" algn="l" rtl="0" eaLnBrk="0" fontAlgn="base" hangingPunct="0">
              <a:spcBef>
                <a:spcPct val="0"/>
              </a:spcBef>
              <a:spcAft>
                <a:spcPct val="25000"/>
              </a:spcAft>
              <a:buFont typeface="Helvetica" pitchFamily="34" charset="0"/>
              <a:buChar char="•"/>
              <a:defRPr sz="2000">
                <a:solidFill>
                  <a:schemeClr val="tx1"/>
                </a:solidFill>
                <a:latin typeface="+mn-lt"/>
                <a:ea typeface="+mn-ea"/>
              </a:defRPr>
            </a:lvl3pPr>
            <a:lvl4pPr marL="1138238" indent="-279400" algn="l" rtl="0" eaLnBrk="0" fontAlgn="base" hangingPunct="0">
              <a:spcBef>
                <a:spcPct val="0"/>
              </a:spcBef>
              <a:spcAft>
                <a:spcPct val="25000"/>
              </a:spcAft>
              <a:buChar char="–"/>
              <a:defRPr sz="2000">
                <a:solidFill>
                  <a:schemeClr val="tx1"/>
                </a:solidFill>
                <a:latin typeface="+mn-lt"/>
                <a:ea typeface="+mn-ea"/>
              </a:defRPr>
            </a:lvl4pPr>
            <a:lvl5pPr marL="1425575" indent="-284163" algn="l" rtl="0" eaLnBrk="0" fontAlgn="base" hangingPunct="0">
              <a:spcBef>
                <a:spcPct val="0"/>
              </a:spcBef>
              <a:spcAft>
                <a:spcPct val="25000"/>
              </a:spcAft>
              <a:buChar char="•"/>
              <a:defRPr sz="2000">
                <a:solidFill>
                  <a:schemeClr val="tx1"/>
                </a:solidFill>
                <a:latin typeface="+mn-lt"/>
                <a:ea typeface="+mn-ea"/>
              </a:defRPr>
            </a:lvl5pPr>
            <a:lvl6pPr marL="1882775" indent="-284163" algn="l" rtl="0" fontAlgn="base">
              <a:spcBef>
                <a:spcPct val="0"/>
              </a:spcBef>
              <a:spcAft>
                <a:spcPct val="25000"/>
              </a:spcAft>
              <a:buChar char="•"/>
              <a:defRPr sz="2000">
                <a:solidFill>
                  <a:schemeClr val="tx1"/>
                </a:solidFill>
                <a:latin typeface="+mn-lt"/>
                <a:ea typeface="+mn-ea"/>
              </a:defRPr>
            </a:lvl6pPr>
            <a:lvl7pPr marL="2339975" indent="-284163" algn="l" rtl="0" fontAlgn="base">
              <a:spcBef>
                <a:spcPct val="0"/>
              </a:spcBef>
              <a:spcAft>
                <a:spcPct val="25000"/>
              </a:spcAft>
              <a:buChar char="•"/>
              <a:defRPr sz="2000">
                <a:solidFill>
                  <a:schemeClr val="tx1"/>
                </a:solidFill>
                <a:latin typeface="+mn-lt"/>
                <a:ea typeface="+mn-ea"/>
              </a:defRPr>
            </a:lvl7pPr>
            <a:lvl8pPr marL="2797175" indent="-284163" algn="l" rtl="0" fontAlgn="base">
              <a:spcBef>
                <a:spcPct val="0"/>
              </a:spcBef>
              <a:spcAft>
                <a:spcPct val="25000"/>
              </a:spcAft>
              <a:buChar char="•"/>
              <a:defRPr sz="2000">
                <a:solidFill>
                  <a:schemeClr val="tx1"/>
                </a:solidFill>
                <a:latin typeface="+mn-lt"/>
                <a:ea typeface="+mn-ea"/>
              </a:defRPr>
            </a:lvl8pPr>
            <a:lvl9pPr marL="3254375" indent="-284163" algn="l" rtl="0" fontAlgn="base">
              <a:spcBef>
                <a:spcPct val="0"/>
              </a:spcBef>
              <a:spcAft>
                <a:spcPct val="25000"/>
              </a:spcAft>
              <a:buChar char="•"/>
              <a:defRPr sz="2000">
                <a:solidFill>
                  <a:schemeClr val="tx1"/>
                </a:solidFill>
                <a:latin typeface="+mn-lt"/>
                <a:ea typeface="+mn-ea"/>
              </a:defRPr>
            </a:lvl9pPr>
          </a:lstStyle>
          <a:p>
            <a:pPr marL="0" indent="0">
              <a:buNone/>
            </a:pPr>
            <a:r>
              <a:rPr lang="en-US" altLang="ja-JP" sz="2800" b="0" u="sng" dirty="0"/>
              <a:t>Work experience</a:t>
            </a:r>
          </a:p>
          <a:p>
            <a:pPr marL="533400" lvl="2" indent="-184150"/>
            <a:r>
              <a:rPr lang="en-US" altLang="ja-JP" sz="1800" dirty="0"/>
              <a:t>Researcher (PTIT-Vietnam,</a:t>
            </a:r>
            <a:r>
              <a:rPr lang="ja-JP" altLang="en-US" sz="1800" dirty="0"/>
              <a:t> </a:t>
            </a:r>
            <a:r>
              <a:rPr lang="en-US" altLang="ja-JP" sz="1800" dirty="0"/>
              <a:t>1999-2005)</a:t>
            </a:r>
            <a:endParaRPr lang="vi-VN" altLang="ja-JP" sz="1800" dirty="0"/>
          </a:p>
          <a:p>
            <a:pPr marL="533400" lvl="2" indent="-184150"/>
            <a:r>
              <a:rPr lang="en-US" altLang="ja-JP" sz="1800" dirty="0"/>
              <a:t>Research Associate (</a:t>
            </a:r>
            <a:r>
              <a:rPr lang="en-US" altLang="ja-JP" sz="1800" dirty="0" err="1"/>
              <a:t>Waseda</a:t>
            </a:r>
            <a:r>
              <a:rPr lang="en-US" altLang="ja-JP" sz="1800" dirty="0"/>
              <a:t> University, 2007-2010)</a:t>
            </a:r>
            <a:endParaRPr lang="vi-VN" altLang="ja-JP" sz="1800" dirty="0"/>
          </a:p>
          <a:p>
            <a:pPr marL="533400" lvl="2" indent="-184150"/>
            <a:r>
              <a:rPr lang="en-US" altLang="ja-JP" sz="1800" dirty="0"/>
              <a:t>Lecturer on Communications Topics (Post and Telecommunications Institute of Technology -Vietnam, 2012-2015)</a:t>
            </a:r>
            <a:endParaRPr lang="vi-VN" altLang="ja-JP" sz="1800" dirty="0"/>
          </a:p>
          <a:p>
            <a:pPr marL="533400" lvl="2" indent="-184150"/>
            <a:r>
              <a:rPr lang="en-US" altLang="ja-JP" sz="1800" dirty="0"/>
              <a:t>System Integrator/ICT management consultant (2012-2015)</a:t>
            </a:r>
          </a:p>
          <a:p>
            <a:pPr marL="533400" lvl="2" indent="-174625"/>
            <a:r>
              <a:rPr lang="en-US" altLang="ja-JP" sz="1800" b="1" dirty="0">
                <a:solidFill>
                  <a:srgbClr val="FF0000"/>
                </a:solidFill>
              </a:rPr>
              <a:t>Senior Manager @ Hanoi Rep. office (Sept 2015~Now: 10 </a:t>
            </a:r>
            <a:r>
              <a:rPr lang="en-US" altLang="ja-JP" sz="1800" b="1" dirty="0" err="1">
                <a:solidFill>
                  <a:srgbClr val="FF0000"/>
                </a:solidFill>
              </a:rPr>
              <a:t>yrs</a:t>
            </a:r>
            <a:r>
              <a:rPr lang="en-US" altLang="ja-JP" sz="1800" b="1" dirty="0">
                <a:solidFill>
                  <a:srgbClr val="FF0000"/>
                </a:solidFill>
              </a:rPr>
              <a:t>)</a:t>
            </a:r>
          </a:p>
          <a:p>
            <a:endParaRPr kumimoji="0" lang="en-US" altLang="ja-JP" sz="1600" kern="0" dirty="0"/>
          </a:p>
        </p:txBody>
      </p:sp>
      <p:sp>
        <p:nvSpPr>
          <p:cNvPr id="6" name="Rectangle 5">
            <a:extLst>
              <a:ext uri="{FF2B5EF4-FFF2-40B4-BE49-F238E27FC236}">
                <a16:creationId xmlns:a16="http://schemas.microsoft.com/office/drawing/2014/main" id="{8CA98014-8F60-4F29-A157-AEA01B2C0D82}"/>
              </a:ext>
            </a:extLst>
          </p:cNvPr>
          <p:cNvSpPr/>
          <p:nvPr/>
        </p:nvSpPr>
        <p:spPr>
          <a:xfrm>
            <a:off x="696356" y="1736229"/>
            <a:ext cx="5586255" cy="2185214"/>
          </a:xfrm>
          <a:prstGeom prst="rect">
            <a:avLst/>
          </a:prstGeom>
        </p:spPr>
        <p:txBody>
          <a:bodyPr wrap="square">
            <a:spAutoFit/>
          </a:bodyPr>
          <a:lstStyle/>
          <a:p>
            <a:r>
              <a:rPr lang="en-US" altLang="ja-JP" sz="2800" u="sng" dirty="0"/>
              <a:t>Education</a:t>
            </a:r>
          </a:p>
          <a:p>
            <a:pPr lvl="1"/>
            <a:r>
              <a:rPr lang="en-US" altLang="ja-JP" dirty="0"/>
              <a:t>1994~1999: Undergraduate from Hanoi University of Science and Technology (Vietnam)</a:t>
            </a:r>
          </a:p>
          <a:p>
            <a:pPr lvl="1"/>
            <a:r>
              <a:rPr lang="en-US" altLang="ja-JP" dirty="0"/>
              <a:t>Major: Networking and Telecommunications</a:t>
            </a:r>
          </a:p>
          <a:p>
            <a:pPr lvl="1"/>
            <a:r>
              <a:rPr lang="en-US" altLang="ja-JP" dirty="0"/>
              <a:t>2002-2011: Master and PhD from </a:t>
            </a:r>
            <a:r>
              <a:rPr lang="en-US" altLang="ja-JP" dirty="0" err="1"/>
              <a:t>Waseda</a:t>
            </a:r>
            <a:r>
              <a:rPr lang="en-US" altLang="ja-JP" dirty="0"/>
              <a:t> University (Japan) in IT and Networking</a:t>
            </a:r>
          </a:p>
          <a:p>
            <a:pPr lvl="1"/>
            <a:r>
              <a:rPr lang="en-US" altLang="ja-JP" dirty="0"/>
              <a:t>Major: Networking and Telecommunications</a:t>
            </a:r>
          </a:p>
        </p:txBody>
      </p:sp>
      <p:pic>
        <p:nvPicPr>
          <p:cNvPr id="7" name="図 4">
            <a:extLst>
              <a:ext uri="{FF2B5EF4-FFF2-40B4-BE49-F238E27FC236}">
                <a16:creationId xmlns:a16="http://schemas.microsoft.com/office/drawing/2014/main" id="{3D2C5AD6-7872-4C30-9748-C13F4B2F8642}"/>
              </a:ext>
            </a:extLst>
          </p:cNvPr>
          <p:cNvPicPr>
            <a:picLocks noChangeAspect="1"/>
          </p:cNvPicPr>
          <p:nvPr/>
        </p:nvPicPr>
        <p:blipFill>
          <a:blip r:embed="rId2"/>
          <a:stretch>
            <a:fillRect/>
          </a:stretch>
        </p:blipFill>
        <p:spPr>
          <a:xfrm>
            <a:off x="8063782" y="618655"/>
            <a:ext cx="2154532" cy="2695792"/>
          </a:xfrm>
          <a:prstGeom prst="rect">
            <a:avLst/>
          </a:prstGeom>
        </p:spPr>
      </p:pic>
    </p:spTree>
    <p:extLst>
      <p:ext uri="{BB962C8B-B14F-4D97-AF65-F5344CB8AC3E}">
        <p14:creationId xmlns:p14="http://schemas.microsoft.com/office/powerpoint/2010/main" val="3498929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40EE-389B-40EF-B1E4-04C3CE526A2A}"/>
              </a:ext>
            </a:extLst>
          </p:cNvPr>
          <p:cNvSpPr>
            <a:spLocks noGrp="1"/>
          </p:cNvSpPr>
          <p:nvPr>
            <p:ph type="title"/>
          </p:nvPr>
        </p:nvSpPr>
        <p:spPr/>
        <p:txBody>
          <a:bodyPr/>
          <a:lstStyle/>
          <a:p>
            <a:r>
              <a:rPr lang="en-US" dirty="0"/>
              <a:t>My transition from academic to business world</a:t>
            </a:r>
          </a:p>
        </p:txBody>
      </p:sp>
      <p:graphicFrame>
        <p:nvGraphicFramePr>
          <p:cNvPr id="4" name="Content Placeholder 3">
            <a:extLst>
              <a:ext uri="{FF2B5EF4-FFF2-40B4-BE49-F238E27FC236}">
                <a16:creationId xmlns:a16="http://schemas.microsoft.com/office/drawing/2014/main" id="{7C1C6BC2-5BDA-4DB5-958B-40809BD976A1}"/>
              </a:ext>
            </a:extLst>
          </p:cNvPr>
          <p:cNvGraphicFramePr>
            <a:graphicFrameLocks noGrp="1"/>
          </p:cNvGraphicFramePr>
          <p:nvPr>
            <p:ph idx="1"/>
            <p:extLst>
              <p:ext uri="{D42A27DB-BD31-4B8C-83A1-F6EECF244321}">
                <p14:modId xmlns:p14="http://schemas.microsoft.com/office/powerpoint/2010/main" val="2202281090"/>
              </p:ext>
            </p:extLst>
          </p:nvPr>
        </p:nvGraphicFramePr>
        <p:xfrm>
          <a:off x="838200" y="2796007"/>
          <a:ext cx="10515600" cy="16951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Slide Number Placeholder 10">
            <a:extLst>
              <a:ext uri="{FF2B5EF4-FFF2-40B4-BE49-F238E27FC236}">
                <a16:creationId xmlns:a16="http://schemas.microsoft.com/office/drawing/2014/main" id="{531A790C-A53B-4A81-B79B-1DD793FDB30A}"/>
              </a:ext>
            </a:extLst>
          </p:cNvPr>
          <p:cNvSpPr>
            <a:spLocks noGrp="1"/>
          </p:cNvSpPr>
          <p:nvPr>
            <p:ph type="sldNum" sz="quarter" idx="12"/>
          </p:nvPr>
        </p:nvSpPr>
        <p:spPr/>
        <p:txBody>
          <a:bodyPr/>
          <a:lstStyle/>
          <a:p>
            <a:fld id="{FF6218B2-9446-4C1C-B97F-2846FEECC8E2}" type="slidenum">
              <a:rPr lang="en-US" smtClean="0"/>
              <a:t>5</a:t>
            </a:fld>
            <a:endParaRPr lang="en-US"/>
          </a:p>
        </p:txBody>
      </p:sp>
      <p:sp>
        <p:nvSpPr>
          <p:cNvPr id="8" name="TextBox 7">
            <a:extLst>
              <a:ext uri="{FF2B5EF4-FFF2-40B4-BE49-F238E27FC236}">
                <a16:creationId xmlns:a16="http://schemas.microsoft.com/office/drawing/2014/main" id="{ED509C2F-4270-4229-86A1-4C9F7C99CACF}"/>
              </a:ext>
            </a:extLst>
          </p:cNvPr>
          <p:cNvSpPr txBox="1"/>
          <p:nvPr/>
        </p:nvSpPr>
        <p:spPr>
          <a:xfrm>
            <a:off x="4963886" y="4626070"/>
            <a:ext cx="2158482" cy="646331"/>
          </a:xfrm>
          <a:prstGeom prst="rect">
            <a:avLst/>
          </a:prstGeom>
          <a:noFill/>
        </p:spPr>
        <p:txBody>
          <a:bodyPr wrap="square" rtlCol="0">
            <a:spAutoFit/>
          </a:bodyPr>
          <a:lstStyle/>
          <a:p>
            <a:r>
              <a:rPr lang="en-US" dirty="0"/>
              <a:t>System integration for large ICT systems</a:t>
            </a:r>
          </a:p>
        </p:txBody>
      </p:sp>
      <p:sp>
        <p:nvSpPr>
          <p:cNvPr id="9" name="TextBox 8">
            <a:extLst>
              <a:ext uri="{FF2B5EF4-FFF2-40B4-BE49-F238E27FC236}">
                <a16:creationId xmlns:a16="http://schemas.microsoft.com/office/drawing/2014/main" id="{E33E0563-61ED-46B4-A262-38C896D8761F}"/>
              </a:ext>
            </a:extLst>
          </p:cNvPr>
          <p:cNvSpPr txBox="1"/>
          <p:nvPr/>
        </p:nvSpPr>
        <p:spPr>
          <a:xfrm>
            <a:off x="1113453" y="4626070"/>
            <a:ext cx="2158482" cy="646331"/>
          </a:xfrm>
          <a:prstGeom prst="rect">
            <a:avLst/>
          </a:prstGeom>
          <a:noFill/>
        </p:spPr>
        <p:txBody>
          <a:bodyPr wrap="square" rtlCol="0">
            <a:spAutoFit/>
          </a:bodyPr>
          <a:lstStyle/>
          <a:p>
            <a:r>
              <a:rPr lang="en-US" dirty="0"/>
              <a:t>Communications topics</a:t>
            </a:r>
          </a:p>
        </p:txBody>
      </p:sp>
      <p:sp>
        <p:nvSpPr>
          <p:cNvPr id="10" name="TextBox 9">
            <a:extLst>
              <a:ext uri="{FF2B5EF4-FFF2-40B4-BE49-F238E27FC236}">
                <a16:creationId xmlns:a16="http://schemas.microsoft.com/office/drawing/2014/main" id="{F63DFA18-50BC-4F18-8164-86A88F0E187D}"/>
              </a:ext>
            </a:extLst>
          </p:cNvPr>
          <p:cNvSpPr txBox="1"/>
          <p:nvPr/>
        </p:nvSpPr>
        <p:spPr>
          <a:xfrm>
            <a:off x="8920065" y="4626070"/>
            <a:ext cx="2158482" cy="1200329"/>
          </a:xfrm>
          <a:prstGeom prst="rect">
            <a:avLst/>
          </a:prstGeom>
          <a:noFill/>
        </p:spPr>
        <p:txBody>
          <a:bodyPr wrap="square" rtlCol="0">
            <a:spAutoFit/>
          </a:bodyPr>
          <a:lstStyle/>
          <a:p>
            <a:r>
              <a:rPr lang="en-US" dirty="0"/>
              <a:t>- Development of Infrastructure Business for a Japanese Group</a:t>
            </a:r>
          </a:p>
        </p:txBody>
      </p:sp>
    </p:spTree>
    <p:extLst>
      <p:ext uri="{BB962C8B-B14F-4D97-AF65-F5344CB8AC3E}">
        <p14:creationId xmlns:p14="http://schemas.microsoft.com/office/powerpoint/2010/main" val="3561016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F3B37-7CA7-48A0-9896-17B873EB2BC8}"/>
              </a:ext>
            </a:extLst>
          </p:cNvPr>
          <p:cNvSpPr>
            <a:spLocks noGrp="1"/>
          </p:cNvSpPr>
          <p:nvPr>
            <p:ph type="title"/>
          </p:nvPr>
        </p:nvSpPr>
        <p:spPr/>
        <p:txBody>
          <a:bodyPr/>
          <a:lstStyle/>
          <a:p>
            <a:r>
              <a:rPr lang="en-US" dirty="0"/>
              <a:t>My transition from academic to business world</a:t>
            </a:r>
          </a:p>
        </p:txBody>
      </p:sp>
      <p:sp>
        <p:nvSpPr>
          <p:cNvPr id="3" name="Content Placeholder 2">
            <a:extLst>
              <a:ext uri="{FF2B5EF4-FFF2-40B4-BE49-F238E27FC236}">
                <a16:creationId xmlns:a16="http://schemas.microsoft.com/office/drawing/2014/main" id="{BCB13464-DD7B-4F97-A609-F7051F33EEB9}"/>
              </a:ext>
            </a:extLst>
          </p:cNvPr>
          <p:cNvSpPr>
            <a:spLocks noGrp="1"/>
          </p:cNvSpPr>
          <p:nvPr>
            <p:ph idx="1"/>
          </p:nvPr>
        </p:nvSpPr>
        <p:spPr/>
        <p:txBody>
          <a:bodyPr>
            <a:normAutofit lnSpcReduction="10000"/>
          </a:bodyPr>
          <a:lstStyle/>
          <a:p>
            <a:r>
              <a:rPr lang="en-US" sz="2800" dirty="0"/>
              <a:t>Why:</a:t>
            </a:r>
          </a:p>
          <a:p>
            <a:pPr lvl="1"/>
            <a:r>
              <a:rPr lang="en-US" sz="2400" dirty="0"/>
              <a:t>Fun fact: Teacher salary in Vietnam is rather low (~400USD/month @ 2015)</a:t>
            </a:r>
          </a:p>
          <a:p>
            <a:pPr lvl="1"/>
            <a:r>
              <a:rPr lang="en-US" sz="2400" dirty="0"/>
              <a:t>Can complement income by doing project research or consultant</a:t>
            </a:r>
          </a:p>
          <a:p>
            <a:pPr lvl="2"/>
            <a:r>
              <a:rPr lang="en-US" sz="2000" dirty="0"/>
              <a:t>I prefer solving real world issues so I choose to be consultant -&gt; too time consuming</a:t>
            </a:r>
          </a:p>
          <a:p>
            <a:r>
              <a:rPr lang="en-US" sz="2800" dirty="0"/>
              <a:t>Advantage for someone with academy background</a:t>
            </a:r>
          </a:p>
          <a:p>
            <a:pPr lvl="1"/>
            <a:r>
              <a:rPr lang="en-US" sz="2400" dirty="0"/>
              <a:t>Having systematic research approach from academy, are </a:t>
            </a:r>
            <a:r>
              <a:rPr lang="en-US" sz="2400" b="1" dirty="0"/>
              <a:t>more time consuming</a:t>
            </a:r>
            <a:r>
              <a:rPr lang="en-US" sz="2400" dirty="0"/>
              <a:t> when solving problems in real business world, but help to provide </a:t>
            </a:r>
            <a:r>
              <a:rPr lang="en-US" sz="2400" b="1" dirty="0"/>
              <a:t>a more thorough solutions </a:t>
            </a:r>
            <a:r>
              <a:rPr lang="en-US" sz="2400" dirty="0"/>
              <a:t>with credible test cases</a:t>
            </a:r>
          </a:p>
          <a:p>
            <a:r>
              <a:rPr lang="en-US" sz="2800" dirty="0"/>
              <a:t>If I return to the teaching career in the future, I can give better carrier advices to students</a:t>
            </a:r>
          </a:p>
        </p:txBody>
      </p:sp>
      <p:sp>
        <p:nvSpPr>
          <p:cNvPr id="4" name="Slide Number Placeholder 3">
            <a:extLst>
              <a:ext uri="{FF2B5EF4-FFF2-40B4-BE49-F238E27FC236}">
                <a16:creationId xmlns:a16="http://schemas.microsoft.com/office/drawing/2014/main" id="{F6BC024F-9F7C-4353-BCA1-64432FBE3F90}"/>
              </a:ext>
            </a:extLst>
          </p:cNvPr>
          <p:cNvSpPr>
            <a:spLocks noGrp="1"/>
          </p:cNvSpPr>
          <p:nvPr>
            <p:ph type="sldNum" sz="quarter" idx="12"/>
          </p:nvPr>
        </p:nvSpPr>
        <p:spPr/>
        <p:txBody>
          <a:bodyPr/>
          <a:lstStyle/>
          <a:p>
            <a:fld id="{FF6218B2-9446-4C1C-B97F-2846FEECC8E2}" type="slidenum">
              <a:rPr lang="en-US" smtClean="0"/>
              <a:t>6</a:t>
            </a:fld>
            <a:endParaRPr lang="en-US"/>
          </a:p>
        </p:txBody>
      </p:sp>
    </p:spTree>
    <p:extLst>
      <p:ext uri="{BB962C8B-B14F-4D97-AF65-F5344CB8AC3E}">
        <p14:creationId xmlns:p14="http://schemas.microsoft.com/office/powerpoint/2010/main" val="3123928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1278-2286-4BE3-8807-2E06BDD731D8}"/>
              </a:ext>
            </a:extLst>
          </p:cNvPr>
          <p:cNvSpPr>
            <a:spLocks noGrp="1"/>
          </p:cNvSpPr>
          <p:nvPr>
            <p:ph type="title"/>
          </p:nvPr>
        </p:nvSpPr>
        <p:spPr/>
        <p:txBody>
          <a:bodyPr/>
          <a:lstStyle/>
          <a:p>
            <a:r>
              <a:rPr lang="en-US" dirty="0"/>
              <a:t>About Vietnamese Education System &amp; Current hot topics</a:t>
            </a:r>
          </a:p>
        </p:txBody>
      </p:sp>
      <p:sp>
        <p:nvSpPr>
          <p:cNvPr id="3" name="Text Placeholder 2">
            <a:extLst>
              <a:ext uri="{FF2B5EF4-FFF2-40B4-BE49-F238E27FC236}">
                <a16:creationId xmlns:a16="http://schemas.microsoft.com/office/drawing/2014/main" id="{DE720960-CED9-4302-B16A-684779DAAB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816802-70B8-41AB-BFAE-E122CBDFC813}"/>
              </a:ext>
            </a:extLst>
          </p:cNvPr>
          <p:cNvSpPr>
            <a:spLocks noGrp="1"/>
          </p:cNvSpPr>
          <p:nvPr>
            <p:ph type="sldNum" sz="quarter" idx="12"/>
          </p:nvPr>
        </p:nvSpPr>
        <p:spPr/>
        <p:txBody>
          <a:bodyPr/>
          <a:lstStyle/>
          <a:p>
            <a:fld id="{FF6218B2-9446-4C1C-B97F-2846FEECC8E2}" type="slidenum">
              <a:rPr lang="en-US" smtClean="0"/>
              <a:t>7</a:t>
            </a:fld>
            <a:endParaRPr lang="en-US"/>
          </a:p>
        </p:txBody>
      </p:sp>
    </p:spTree>
    <p:extLst>
      <p:ext uri="{BB962C8B-B14F-4D97-AF65-F5344CB8AC3E}">
        <p14:creationId xmlns:p14="http://schemas.microsoft.com/office/powerpoint/2010/main" val="2022983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E5669-4E76-4717-8B56-94894E254569}"/>
              </a:ext>
            </a:extLst>
          </p:cNvPr>
          <p:cNvSpPr>
            <a:spLocks noGrp="1"/>
          </p:cNvSpPr>
          <p:nvPr>
            <p:ph type="title"/>
          </p:nvPr>
        </p:nvSpPr>
        <p:spPr/>
        <p:txBody>
          <a:bodyPr/>
          <a:lstStyle/>
          <a:p>
            <a:r>
              <a:rPr lang="en-US" dirty="0"/>
              <a:t>Vietnam AT A glance</a:t>
            </a:r>
          </a:p>
        </p:txBody>
      </p:sp>
      <p:sp>
        <p:nvSpPr>
          <p:cNvPr id="4" name="Slide Number Placeholder 3">
            <a:extLst>
              <a:ext uri="{FF2B5EF4-FFF2-40B4-BE49-F238E27FC236}">
                <a16:creationId xmlns:a16="http://schemas.microsoft.com/office/drawing/2014/main" id="{EA7A9DF6-1806-4887-815A-9E819C9F3E90}"/>
              </a:ext>
            </a:extLst>
          </p:cNvPr>
          <p:cNvSpPr>
            <a:spLocks noGrp="1"/>
          </p:cNvSpPr>
          <p:nvPr>
            <p:ph type="sldNum" sz="quarter" idx="12"/>
          </p:nvPr>
        </p:nvSpPr>
        <p:spPr/>
        <p:txBody>
          <a:bodyPr/>
          <a:lstStyle/>
          <a:p>
            <a:fld id="{FF6218B2-9446-4C1C-B97F-2846FEECC8E2}" type="slidenum">
              <a:rPr lang="en-US" smtClean="0"/>
              <a:t>8</a:t>
            </a:fld>
            <a:endParaRPr lang="en-US"/>
          </a:p>
        </p:txBody>
      </p:sp>
      <p:pic>
        <p:nvPicPr>
          <p:cNvPr id="1026" name="Picture 2" descr=" ">
            <a:extLst>
              <a:ext uri="{FF2B5EF4-FFF2-40B4-BE49-F238E27FC236}">
                <a16:creationId xmlns:a16="http://schemas.microsoft.com/office/drawing/2014/main" id="{E0A6110D-10E3-4F7B-AE14-E2411726DE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7974" y="3847693"/>
            <a:ext cx="4313187" cy="3010307"/>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ACBCB291-BA87-4711-99EE-947BAB540AB9}"/>
              </a:ext>
            </a:extLst>
          </p:cNvPr>
          <p:cNvSpPr txBox="1">
            <a:spLocks/>
          </p:cNvSpPr>
          <p:nvPr/>
        </p:nvSpPr>
        <p:spPr>
          <a:xfrm>
            <a:off x="669564" y="1947090"/>
            <a:ext cx="9720073" cy="4023360"/>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None/>
            </a:pPr>
            <a:r>
              <a:rPr lang="en-US" sz="1600" dirty="0"/>
              <a:t>Population: 101 mil., golden pyramid</a:t>
            </a:r>
          </a:p>
          <a:p>
            <a:pPr marL="0" indent="0">
              <a:buNone/>
            </a:pPr>
            <a:r>
              <a:rPr lang="en-US" sz="1600" dirty="0"/>
              <a:t>Area: 331,000 km²</a:t>
            </a:r>
          </a:p>
          <a:p>
            <a:pPr marL="0" indent="0">
              <a:buNone/>
            </a:pPr>
            <a:r>
              <a:rPr lang="en-US" sz="1600" dirty="0"/>
              <a:t>GDP/person: 4800USD</a:t>
            </a:r>
          </a:p>
          <a:p>
            <a:pPr marL="0" indent="0">
              <a:buNone/>
            </a:pPr>
            <a:r>
              <a:rPr lang="en-US" sz="1600" dirty="0"/>
              <a:t>Fast growing economy based on FDI (low skill cheap labor) </a:t>
            </a:r>
            <a:r>
              <a:rPr lang="ja-JP" altLang="en-US" sz="1600" dirty="0"/>
              <a:t>→ </a:t>
            </a:r>
            <a:r>
              <a:rPr lang="en-US" altLang="ja-JP" sz="1600" dirty="0"/>
              <a:t>moving toward </a:t>
            </a:r>
            <a:r>
              <a:rPr lang="en-US" sz="1600" dirty="0" err="1"/>
              <a:t>hightech</a:t>
            </a:r>
            <a:r>
              <a:rPr lang="en-US" sz="1600" dirty="0"/>
              <a:t> and </a:t>
            </a:r>
          </a:p>
          <a:p>
            <a:pPr marL="0" indent="0">
              <a:buNone/>
            </a:pPr>
            <a:r>
              <a:rPr lang="en-US" sz="1600" dirty="0"/>
              <a:t>science</a:t>
            </a:r>
          </a:p>
          <a:p>
            <a:pPr marL="0" indent="0">
              <a:buNone/>
            </a:pPr>
            <a:endParaRPr lang="en-US" sz="1600" dirty="0"/>
          </a:p>
        </p:txBody>
      </p:sp>
      <p:pic>
        <p:nvPicPr>
          <p:cNvPr id="7" name="Picture 6">
            <a:extLst>
              <a:ext uri="{FF2B5EF4-FFF2-40B4-BE49-F238E27FC236}">
                <a16:creationId xmlns:a16="http://schemas.microsoft.com/office/drawing/2014/main" id="{5304DAF7-BF8A-47E1-A317-5E84B45FD73D}"/>
              </a:ext>
            </a:extLst>
          </p:cNvPr>
          <p:cNvPicPr>
            <a:picLocks noChangeAspect="1"/>
          </p:cNvPicPr>
          <p:nvPr/>
        </p:nvPicPr>
        <p:blipFill>
          <a:blip r:embed="rId3"/>
          <a:stretch>
            <a:fillRect/>
          </a:stretch>
        </p:blipFill>
        <p:spPr>
          <a:xfrm>
            <a:off x="8298024" y="27559"/>
            <a:ext cx="3647396" cy="3279745"/>
          </a:xfrm>
          <a:prstGeom prst="rect">
            <a:avLst/>
          </a:prstGeom>
        </p:spPr>
      </p:pic>
      <p:pic>
        <p:nvPicPr>
          <p:cNvPr id="1028" name="Picture 4" descr="Vietnam Maps: All Maps of Vietnam in the Latest Version">
            <a:extLst>
              <a:ext uri="{FF2B5EF4-FFF2-40B4-BE49-F238E27FC236}">
                <a16:creationId xmlns:a16="http://schemas.microsoft.com/office/drawing/2014/main" id="{2DB5FA59-B2ED-4D5D-BE22-CF73B5E74D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5584" y="3550697"/>
            <a:ext cx="666750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17053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E5669-4E76-4717-8B56-94894E254569}"/>
              </a:ext>
            </a:extLst>
          </p:cNvPr>
          <p:cNvSpPr>
            <a:spLocks noGrp="1"/>
          </p:cNvSpPr>
          <p:nvPr>
            <p:ph type="title"/>
          </p:nvPr>
        </p:nvSpPr>
        <p:spPr/>
        <p:txBody>
          <a:bodyPr/>
          <a:lstStyle/>
          <a:p>
            <a:r>
              <a:rPr lang="en-US" dirty="0"/>
              <a:t>Vietnam education system</a:t>
            </a:r>
          </a:p>
        </p:txBody>
      </p:sp>
      <p:sp>
        <p:nvSpPr>
          <p:cNvPr id="3" name="Content Placeholder 2">
            <a:extLst>
              <a:ext uri="{FF2B5EF4-FFF2-40B4-BE49-F238E27FC236}">
                <a16:creationId xmlns:a16="http://schemas.microsoft.com/office/drawing/2014/main" id="{426EE515-CC5E-4132-9272-5B226F7BED2C}"/>
              </a:ext>
            </a:extLst>
          </p:cNvPr>
          <p:cNvSpPr>
            <a:spLocks noGrp="1"/>
          </p:cNvSpPr>
          <p:nvPr>
            <p:ph idx="1"/>
          </p:nvPr>
        </p:nvSpPr>
        <p:spPr/>
        <p:txBody>
          <a:bodyPr>
            <a:normAutofit fontScale="92500" lnSpcReduction="10000"/>
          </a:bodyPr>
          <a:lstStyle/>
          <a:p>
            <a:pPr marL="0" indent="0">
              <a:buNone/>
            </a:pPr>
            <a:r>
              <a:rPr lang="en-US" sz="3200" dirty="0"/>
              <a:t>12 years of general education</a:t>
            </a:r>
          </a:p>
          <a:p>
            <a:pPr lvl="1"/>
            <a:r>
              <a:rPr lang="en-US" sz="2800" dirty="0"/>
              <a:t>5 years of elementary (compulsory)</a:t>
            </a:r>
          </a:p>
          <a:p>
            <a:pPr lvl="1"/>
            <a:r>
              <a:rPr lang="en-US" sz="2800" dirty="0"/>
              <a:t>4 years of secondary (compulsory)</a:t>
            </a:r>
          </a:p>
          <a:p>
            <a:pPr lvl="1"/>
            <a:r>
              <a:rPr lang="en-US" sz="2800" dirty="0"/>
              <a:t>3 years of high school</a:t>
            </a:r>
          </a:p>
          <a:p>
            <a:r>
              <a:rPr lang="en-US" sz="3200" dirty="0"/>
              <a:t>Undergraduate</a:t>
            </a:r>
          </a:p>
          <a:p>
            <a:pPr lvl="1"/>
            <a:r>
              <a:rPr lang="en-US" sz="2800" dirty="0"/>
              <a:t>4 years for bachelor</a:t>
            </a:r>
          </a:p>
          <a:p>
            <a:pPr lvl="1"/>
            <a:r>
              <a:rPr lang="en-US" sz="2800" dirty="0"/>
              <a:t>4.5~5 years for engineering</a:t>
            </a:r>
          </a:p>
          <a:p>
            <a:pPr lvl="1"/>
            <a:r>
              <a:rPr lang="en-US" sz="2800" dirty="0"/>
              <a:t>6 years for medicine</a:t>
            </a:r>
          </a:p>
          <a:p>
            <a:r>
              <a:rPr lang="en-US" sz="3200" dirty="0"/>
              <a:t>Higher education are similar to other countries</a:t>
            </a:r>
          </a:p>
        </p:txBody>
      </p:sp>
      <p:sp>
        <p:nvSpPr>
          <p:cNvPr id="4" name="Slide Number Placeholder 3">
            <a:extLst>
              <a:ext uri="{FF2B5EF4-FFF2-40B4-BE49-F238E27FC236}">
                <a16:creationId xmlns:a16="http://schemas.microsoft.com/office/drawing/2014/main" id="{EA7A9DF6-1806-4887-815A-9E819C9F3E90}"/>
              </a:ext>
            </a:extLst>
          </p:cNvPr>
          <p:cNvSpPr>
            <a:spLocks noGrp="1"/>
          </p:cNvSpPr>
          <p:nvPr>
            <p:ph type="sldNum" sz="quarter" idx="12"/>
          </p:nvPr>
        </p:nvSpPr>
        <p:spPr/>
        <p:txBody>
          <a:bodyPr/>
          <a:lstStyle/>
          <a:p>
            <a:fld id="{FF6218B2-9446-4C1C-B97F-2846FEECC8E2}" type="slidenum">
              <a:rPr lang="en-US" smtClean="0"/>
              <a:t>9</a:t>
            </a:fld>
            <a:endParaRPr lang="en-US"/>
          </a:p>
        </p:txBody>
      </p:sp>
    </p:spTree>
    <p:extLst>
      <p:ext uri="{BB962C8B-B14F-4D97-AF65-F5344CB8AC3E}">
        <p14:creationId xmlns:p14="http://schemas.microsoft.com/office/powerpoint/2010/main" val="1546788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A2768-711F-4FF5-8246-2DF02FD6918A}"/>
              </a:ext>
            </a:extLst>
          </p:cNvPr>
          <p:cNvSpPr>
            <a:spLocks noGrp="1"/>
          </p:cNvSpPr>
          <p:nvPr>
            <p:ph type="title"/>
          </p:nvPr>
        </p:nvSpPr>
        <p:spPr/>
        <p:txBody>
          <a:bodyPr/>
          <a:lstStyle/>
          <a:p>
            <a:r>
              <a:rPr lang="en-US" dirty="0"/>
              <a:t>Main characteristics of Vietnamese education system</a:t>
            </a:r>
          </a:p>
        </p:txBody>
      </p:sp>
      <p:sp>
        <p:nvSpPr>
          <p:cNvPr id="3" name="Content Placeholder 2">
            <a:extLst>
              <a:ext uri="{FF2B5EF4-FFF2-40B4-BE49-F238E27FC236}">
                <a16:creationId xmlns:a16="http://schemas.microsoft.com/office/drawing/2014/main" id="{3BAEDD15-C7ED-4A1D-ABD2-F8AC231E3CFD}"/>
              </a:ext>
            </a:extLst>
          </p:cNvPr>
          <p:cNvSpPr>
            <a:spLocks noGrp="1"/>
          </p:cNvSpPr>
          <p:nvPr>
            <p:ph idx="1"/>
          </p:nvPr>
        </p:nvSpPr>
        <p:spPr/>
        <p:txBody>
          <a:bodyPr>
            <a:normAutofit fontScale="92500" lnSpcReduction="10000"/>
          </a:bodyPr>
          <a:lstStyle/>
          <a:p>
            <a:r>
              <a:rPr lang="en-US" sz="2800" dirty="0"/>
              <a:t>Parents have high expectation of kids, would push kids hard to excel in school</a:t>
            </a:r>
          </a:p>
          <a:p>
            <a:r>
              <a:rPr lang="en-US" sz="2800" dirty="0"/>
              <a:t>Heavy on knowledge, less on critical thinking</a:t>
            </a:r>
          </a:p>
          <a:p>
            <a:pPr lvl="1"/>
            <a:r>
              <a:rPr lang="en-US" sz="2400" dirty="0"/>
              <a:t>Some remnants from the Soviet system mixing with result-based East Asia style</a:t>
            </a:r>
          </a:p>
          <a:p>
            <a:pPr lvl="1"/>
            <a:r>
              <a:rPr lang="en-US" sz="2400" dirty="0"/>
              <a:t>Lots of homework, tutoring school</a:t>
            </a:r>
          </a:p>
          <a:p>
            <a:pPr lvl="2"/>
            <a:r>
              <a:rPr lang="en-US" sz="1800" dirty="0"/>
              <a:t>pupils have to do model problems over and over again in order to memorize how to solve a specific problem with will come up in the final examinations</a:t>
            </a:r>
          </a:p>
          <a:p>
            <a:r>
              <a:rPr lang="en-US" sz="2800" dirty="0"/>
              <a:t>Undergraduate courses are reducing textbook teaching, adding more project-research time</a:t>
            </a:r>
          </a:p>
          <a:p>
            <a:pPr lvl="1"/>
            <a:r>
              <a:rPr lang="en-US" sz="2400" dirty="0"/>
              <a:t>Before: re-training after enter the workforce</a:t>
            </a:r>
          </a:p>
          <a:p>
            <a:pPr lvl="1"/>
            <a:r>
              <a:rPr lang="en-US" sz="2400" dirty="0"/>
              <a:t>Now: more readiness to perform on job</a:t>
            </a:r>
          </a:p>
        </p:txBody>
      </p:sp>
      <p:sp>
        <p:nvSpPr>
          <p:cNvPr id="4" name="Slide Number Placeholder 3">
            <a:extLst>
              <a:ext uri="{FF2B5EF4-FFF2-40B4-BE49-F238E27FC236}">
                <a16:creationId xmlns:a16="http://schemas.microsoft.com/office/drawing/2014/main" id="{DB6B4CCD-8BEB-4436-8D92-E6784B596E57}"/>
              </a:ext>
            </a:extLst>
          </p:cNvPr>
          <p:cNvSpPr>
            <a:spLocks noGrp="1"/>
          </p:cNvSpPr>
          <p:nvPr>
            <p:ph type="sldNum" sz="quarter" idx="12"/>
          </p:nvPr>
        </p:nvSpPr>
        <p:spPr/>
        <p:txBody>
          <a:bodyPr/>
          <a:lstStyle/>
          <a:p>
            <a:fld id="{FF6218B2-9446-4C1C-B97F-2846FEECC8E2}" type="slidenum">
              <a:rPr lang="en-US" smtClean="0"/>
              <a:t>10</a:t>
            </a:fld>
            <a:endParaRPr lang="en-US"/>
          </a:p>
        </p:txBody>
      </p:sp>
    </p:spTree>
    <p:extLst>
      <p:ext uri="{BB962C8B-B14F-4D97-AF65-F5344CB8AC3E}">
        <p14:creationId xmlns:p14="http://schemas.microsoft.com/office/powerpoint/2010/main" val="2271699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C541E-E3F7-4522-8792-63B48EE0AF04}"/>
              </a:ext>
            </a:extLst>
          </p:cNvPr>
          <p:cNvSpPr>
            <a:spLocks noGrp="1"/>
          </p:cNvSpPr>
          <p:nvPr>
            <p:ph type="title"/>
          </p:nvPr>
        </p:nvSpPr>
        <p:spPr/>
        <p:txBody>
          <a:bodyPr/>
          <a:lstStyle/>
          <a:p>
            <a:r>
              <a:rPr lang="en-US" dirty="0"/>
              <a:t>Hot EDUCATION and research topics</a:t>
            </a:r>
          </a:p>
        </p:txBody>
      </p:sp>
      <p:sp>
        <p:nvSpPr>
          <p:cNvPr id="3" name="Content Placeholder 2">
            <a:extLst>
              <a:ext uri="{FF2B5EF4-FFF2-40B4-BE49-F238E27FC236}">
                <a16:creationId xmlns:a16="http://schemas.microsoft.com/office/drawing/2014/main" id="{8659D8F6-C6F5-4C9F-B991-E77F8A82B45E}"/>
              </a:ext>
            </a:extLst>
          </p:cNvPr>
          <p:cNvSpPr>
            <a:spLocks noGrp="1"/>
          </p:cNvSpPr>
          <p:nvPr>
            <p:ph idx="1"/>
          </p:nvPr>
        </p:nvSpPr>
        <p:spPr/>
        <p:txBody>
          <a:bodyPr/>
          <a:lstStyle/>
          <a:p>
            <a:pPr marL="0" indent="0">
              <a:buNone/>
            </a:pPr>
            <a:r>
              <a:rPr lang="en-US" b="0" i="0" dirty="0">
                <a:solidFill>
                  <a:srgbClr val="505050"/>
                </a:solidFill>
                <a:effectLst/>
                <a:latin typeface="arial" panose="020B0604020202020204" pitchFamily="34" charset="0"/>
              </a:rPr>
              <a:t>Five major areas</a:t>
            </a:r>
          </a:p>
          <a:p>
            <a:pPr lvl="1"/>
            <a:r>
              <a:rPr lang="en-US" b="0" i="0" dirty="0">
                <a:solidFill>
                  <a:srgbClr val="505050"/>
                </a:solidFill>
                <a:effectLst/>
                <a:latin typeface="arial" panose="020B0604020202020204" pitchFamily="34" charset="0"/>
              </a:rPr>
              <a:t>Semiconductors</a:t>
            </a:r>
          </a:p>
          <a:p>
            <a:pPr lvl="1"/>
            <a:r>
              <a:rPr lang="en-US" b="0" i="0" dirty="0">
                <a:solidFill>
                  <a:srgbClr val="505050"/>
                </a:solidFill>
                <a:effectLst/>
                <a:latin typeface="arial" panose="020B0604020202020204" pitchFamily="34" charset="0"/>
              </a:rPr>
              <a:t>artificial intelligences</a:t>
            </a:r>
          </a:p>
          <a:p>
            <a:pPr lvl="1"/>
            <a:r>
              <a:rPr lang="en-US" b="0" i="0" dirty="0">
                <a:solidFill>
                  <a:srgbClr val="505050"/>
                </a:solidFill>
                <a:effectLst/>
                <a:latin typeface="arial" panose="020B0604020202020204" pitchFamily="34" charset="0"/>
              </a:rPr>
              <a:t>mart factories</a:t>
            </a:r>
          </a:p>
          <a:p>
            <a:pPr lvl="1"/>
            <a:r>
              <a:rPr lang="en-US" b="0" i="0" dirty="0">
                <a:solidFill>
                  <a:srgbClr val="505050"/>
                </a:solidFill>
                <a:effectLst/>
                <a:latin typeface="arial" panose="020B0604020202020204" pitchFamily="34" charset="0"/>
              </a:rPr>
              <a:t>smart cities</a:t>
            </a:r>
          </a:p>
          <a:p>
            <a:pPr lvl="1"/>
            <a:r>
              <a:rPr lang="en-US" b="0" i="0" dirty="0">
                <a:solidFill>
                  <a:srgbClr val="505050"/>
                </a:solidFill>
                <a:effectLst/>
                <a:latin typeface="arial" panose="020B0604020202020204" pitchFamily="34" charset="0"/>
              </a:rPr>
              <a:t>digital technologies</a:t>
            </a:r>
          </a:p>
          <a:p>
            <a:r>
              <a:rPr lang="en-US" b="0" i="0" dirty="0">
                <a:solidFill>
                  <a:srgbClr val="000000"/>
                </a:solidFill>
                <a:effectLst/>
                <a:latin typeface="NotoSerif-Regular"/>
              </a:rPr>
              <a:t>HR Developmen</a:t>
            </a:r>
            <a:r>
              <a:rPr lang="en-US" dirty="0">
                <a:solidFill>
                  <a:srgbClr val="000000"/>
                </a:solidFill>
                <a:latin typeface="NotoSerif-Regular"/>
              </a:rPr>
              <a:t>t </a:t>
            </a:r>
            <a:r>
              <a:rPr lang="en-US" b="0" i="0" dirty="0">
                <a:solidFill>
                  <a:srgbClr val="000000"/>
                </a:solidFill>
                <a:effectLst/>
                <a:latin typeface="NotoSerif-Regular"/>
              </a:rPr>
              <a:t>Target: </a:t>
            </a:r>
          </a:p>
          <a:p>
            <a:pPr lvl="1"/>
            <a:r>
              <a:rPr lang="en-US" dirty="0">
                <a:solidFill>
                  <a:srgbClr val="000000"/>
                </a:solidFill>
                <a:latin typeface="NotoSerif-Regular"/>
              </a:rPr>
              <a:t>T</a:t>
            </a:r>
            <a:r>
              <a:rPr lang="en-US" b="0" i="0" dirty="0">
                <a:solidFill>
                  <a:srgbClr val="000000"/>
                </a:solidFill>
                <a:effectLst/>
                <a:latin typeface="NotoSerif-Regular"/>
              </a:rPr>
              <a:t>raining 50,000 semiconductor professionals </a:t>
            </a:r>
          </a:p>
          <a:p>
            <a:pPr lvl="1"/>
            <a:r>
              <a:rPr lang="en-US" b="0" i="0" dirty="0">
                <a:solidFill>
                  <a:srgbClr val="000000"/>
                </a:solidFill>
                <a:effectLst/>
                <a:latin typeface="NotoSerif-Regular"/>
              </a:rPr>
              <a:t>5,000 AI specialists by 2030</a:t>
            </a:r>
          </a:p>
          <a:p>
            <a:pPr lvl="1"/>
            <a:r>
              <a:rPr lang="en-US" dirty="0">
                <a:solidFill>
                  <a:srgbClr val="000000"/>
                </a:solidFill>
                <a:latin typeface="NotoSerif-Regular"/>
              </a:rPr>
              <a:t>E</a:t>
            </a:r>
            <a:r>
              <a:rPr lang="en-US" b="0" i="0" dirty="0">
                <a:solidFill>
                  <a:srgbClr val="000000"/>
                </a:solidFill>
                <a:effectLst/>
                <a:latin typeface="NotoSerif-Regular"/>
              </a:rPr>
              <a:t>stablishing key research laboratories</a:t>
            </a:r>
          </a:p>
          <a:p>
            <a:pPr lvl="1"/>
            <a:endParaRPr lang="en-US" dirty="0"/>
          </a:p>
        </p:txBody>
      </p:sp>
      <p:sp>
        <p:nvSpPr>
          <p:cNvPr id="4" name="Slide Number Placeholder 3">
            <a:extLst>
              <a:ext uri="{FF2B5EF4-FFF2-40B4-BE49-F238E27FC236}">
                <a16:creationId xmlns:a16="http://schemas.microsoft.com/office/drawing/2014/main" id="{CCCAEBD2-87E8-4867-AD9E-C0E31B3C8D80}"/>
              </a:ext>
            </a:extLst>
          </p:cNvPr>
          <p:cNvSpPr>
            <a:spLocks noGrp="1"/>
          </p:cNvSpPr>
          <p:nvPr>
            <p:ph type="sldNum" sz="quarter" idx="12"/>
          </p:nvPr>
        </p:nvSpPr>
        <p:spPr/>
        <p:txBody>
          <a:bodyPr/>
          <a:lstStyle/>
          <a:p>
            <a:fld id="{FF6218B2-9446-4C1C-B97F-2846FEECC8E2}" type="slidenum">
              <a:rPr lang="en-US" smtClean="0"/>
              <a:t>11</a:t>
            </a:fld>
            <a:endParaRPr lang="en-US"/>
          </a:p>
        </p:txBody>
      </p:sp>
      <p:pic>
        <p:nvPicPr>
          <p:cNvPr id="8" name="Picture 7">
            <a:extLst>
              <a:ext uri="{FF2B5EF4-FFF2-40B4-BE49-F238E27FC236}">
                <a16:creationId xmlns:a16="http://schemas.microsoft.com/office/drawing/2014/main" id="{F102904B-2591-4A53-8BFE-F80972A9A15F}"/>
              </a:ext>
            </a:extLst>
          </p:cNvPr>
          <p:cNvPicPr>
            <a:picLocks noChangeAspect="1"/>
          </p:cNvPicPr>
          <p:nvPr/>
        </p:nvPicPr>
        <p:blipFill>
          <a:blip r:embed="rId2"/>
          <a:stretch>
            <a:fillRect/>
          </a:stretch>
        </p:blipFill>
        <p:spPr>
          <a:xfrm>
            <a:off x="6126045" y="1686174"/>
            <a:ext cx="5684955" cy="3161640"/>
          </a:xfrm>
          <a:prstGeom prst="rect">
            <a:avLst/>
          </a:prstGeom>
        </p:spPr>
      </p:pic>
      <p:pic>
        <p:nvPicPr>
          <p:cNvPr id="10" name="Picture 9">
            <a:extLst>
              <a:ext uri="{FF2B5EF4-FFF2-40B4-BE49-F238E27FC236}">
                <a16:creationId xmlns:a16="http://schemas.microsoft.com/office/drawing/2014/main" id="{A425F3BD-77C3-4118-970C-B19E5E3978DE}"/>
              </a:ext>
            </a:extLst>
          </p:cNvPr>
          <p:cNvPicPr>
            <a:picLocks noChangeAspect="1"/>
          </p:cNvPicPr>
          <p:nvPr/>
        </p:nvPicPr>
        <p:blipFill>
          <a:blip r:embed="rId3"/>
          <a:stretch>
            <a:fillRect/>
          </a:stretch>
        </p:blipFill>
        <p:spPr>
          <a:xfrm>
            <a:off x="6096000" y="4949442"/>
            <a:ext cx="5168107" cy="1733378"/>
          </a:xfrm>
          <a:prstGeom prst="rect">
            <a:avLst/>
          </a:prstGeom>
        </p:spPr>
      </p:pic>
    </p:spTree>
    <p:extLst>
      <p:ext uri="{BB962C8B-B14F-4D97-AF65-F5344CB8AC3E}">
        <p14:creationId xmlns:p14="http://schemas.microsoft.com/office/powerpoint/2010/main" val="2366456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B6CD4-146C-41FE-906A-6CE99C1B1A96}"/>
              </a:ext>
            </a:extLst>
          </p:cNvPr>
          <p:cNvSpPr>
            <a:spLocks noGrp="1"/>
          </p:cNvSpPr>
          <p:nvPr>
            <p:ph type="title"/>
          </p:nvPr>
        </p:nvSpPr>
        <p:spPr/>
        <p:txBody>
          <a:bodyPr/>
          <a:lstStyle/>
          <a:p>
            <a:endParaRPr lang="en-US" dirty="0"/>
          </a:p>
        </p:txBody>
      </p:sp>
      <p:sp>
        <p:nvSpPr>
          <p:cNvPr id="4" name="Slide Number Placeholder 3">
            <a:extLst>
              <a:ext uri="{FF2B5EF4-FFF2-40B4-BE49-F238E27FC236}">
                <a16:creationId xmlns:a16="http://schemas.microsoft.com/office/drawing/2014/main" id="{887D8290-2FD0-4D7A-B0C1-FDD0339C0C12}"/>
              </a:ext>
            </a:extLst>
          </p:cNvPr>
          <p:cNvSpPr>
            <a:spLocks noGrp="1"/>
          </p:cNvSpPr>
          <p:nvPr>
            <p:ph type="sldNum" sz="quarter" idx="12"/>
          </p:nvPr>
        </p:nvSpPr>
        <p:spPr/>
        <p:txBody>
          <a:bodyPr/>
          <a:lstStyle/>
          <a:p>
            <a:fld id="{FF6218B2-9446-4C1C-B97F-2846FEECC8E2}" type="slidenum">
              <a:rPr lang="en-US" smtClean="0"/>
              <a:t>12</a:t>
            </a:fld>
            <a:endParaRPr lang="en-US"/>
          </a:p>
        </p:txBody>
      </p:sp>
      <p:pic>
        <p:nvPicPr>
          <p:cNvPr id="2050" name="Picture 2">
            <a:extLst>
              <a:ext uri="{FF2B5EF4-FFF2-40B4-BE49-F238E27FC236}">
                <a16:creationId xmlns:a16="http://schemas.microsoft.com/office/drawing/2014/main" id="{10E5EB2B-6153-4D19-9210-EE91DF92D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7690" y="62204"/>
            <a:ext cx="31496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Elitech - Cơ sở vật chất">
            <a:extLst>
              <a:ext uri="{FF2B5EF4-FFF2-40B4-BE49-F238E27FC236}">
                <a16:creationId xmlns:a16="http://schemas.microsoft.com/office/drawing/2014/main" id="{91E52728-F537-4F44-8256-184EA2845D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975" y="131503"/>
            <a:ext cx="4083988" cy="271770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Đẩy mạnh xu hướng số hoá đào tạo tại Đại học Bách khoa Hà Nội">
            <a:extLst>
              <a:ext uri="{FF2B5EF4-FFF2-40B4-BE49-F238E27FC236}">
                <a16:creationId xmlns:a16="http://schemas.microsoft.com/office/drawing/2014/main" id="{60F9F1B3-EC81-4F66-94F6-5B3D4AD901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9086" y="62204"/>
            <a:ext cx="4248399" cy="2827117"/>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F83AF1D5-0695-4FC3-BFFB-A4A235FF4CAA}"/>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456C0946-F911-4B08-9605-6FE02B7CE9D1}"/>
              </a:ext>
            </a:extLst>
          </p:cNvPr>
          <p:cNvPicPr>
            <a:picLocks noChangeAspect="1"/>
          </p:cNvPicPr>
          <p:nvPr/>
        </p:nvPicPr>
        <p:blipFill>
          <a:blip r:embed="rId5"/>
          <a:stretch>
            <a:fillRect/>
          </a:stretch>
        </p:blipFill>
        <p:spPr>
          <a:xfrm>
            <a:off x="253771" y="3242542"/>
            <a:ext cx="3500437" cy="2384053"/>
          </a:xfrm>
          <a:prstGeom prst="rect">
            <a:avLst/>
          </a:prstGeom>
        </p:spPr>
      </p:pic>
      <p:pic>
        <p:nvPicPr>
          <p:cNvPr id="9" name="Picture 8">
            <a:extLst>
              <a:ext uri="{FF2B5EF4-FFF2-40B4-BE49-F238E27FC236}">
                <a16:creationId xmlns:a16="http://schemas.microsoft.com/office/drawing/2014/main" id="{486AB867-E03A-4AD5-B65A-88370918B4EA}"/>
              </a:ext>
            </a:extLst>
          </p:cNvPr>
          <p:cNvPicPr>
            <a:picLocks noChangeAspect="1"/>
          </p:cNvPicPr>
          <p:nvPr/>
        </p:nvPicPr>
        <p:blipFill>
          <a:blip r:embed="rId6"/>
          <a:stretch>
            <a:fillRect/>
          </a:stretch>
        </p:blipFill>
        <p:spPr>
          <a:xfrm>
            <a:off x="4120728" y="3254177"/>
            <a:ext cx="4607998" cy="2690326"/>
          </a:xfrm>
          <a:prstGeom prst="rect">
            <a:avLst/>
          </a:prstGeom>
        </p:spPr>
      </p:pic>
    </p:spTree>
    <p:extLst>
      <p:ext uri="{BB962C8B-B14F-4D97-AF65-F5344CB8AC3E}">
        <p14:creationId xmlns:p14="http://schemas.microsoft.com/office/powerpoint/2010/main" val="281508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1278-2286-4BE3-8807-2E06BDD731D8}"/>
              </a:ext>
            </a:extLst>
          </p:cNvPr>
          <p:cNvSpPr>
            <a:spLocks noGrp="1"/>
          </p:cNvSpPr>
          <p:nvPr>
            <p:ph type="title"/>
          </p:nvPr>
        </p:nvSpPr>
        <p:spPr/>
        <p:txBody>
          <a:bodyPr/>
          <a:lstStyle/>
          <a:p>
            <a:r>
              <a:rPr lang="en-US" dirty="0"/>
              <a:t>About my current engineering interest</a:t>
            </a:r>
          </a:p>
        </p:txBody>
      </p:sp>
      <p:sp>
        <p:nvSpPr>
          <p:cNvPr id="3" name="Text Placeholder 2">
            <a:extLst>
              <a:ext uri="{FF2B5EF4-FFF2-40B4-BE49-F238E27FC236}">
                <a16:creationId xmlns:a16="http://schemas.microsoft.com/office/drawing/2014/main" id="{DE720960-CED9-4302-B16A-684779DAAB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816802-70B8-41AB-BFAE-E122CBDFC813}"/>
              </a:ext>
            </a:extLst>
          </p:cNvPr>
          <p:cNvSpPr>
            <a:spLocks noGrp="1"/>
          </p:cNvSpPr>
          <p:nvPr>
            <p:ph type="sldNum" sz="quarter" idx="12"/>
          </p:nvPr>
        </p:nvSpPr>
        <p:spPr/>
        <p:txBody>
          <a:bodyPr/>
          <a:lstStyle/>
          <a:p>
            <a:fld id="{FF6218B2-9446-4C1C-B97F-2846FEECC8E2}" type="slidenum">
              <a:rPr lang="en-US" smtClean="0"/>
              <a:t>13</a:t>
            </a:fld>
            <a:endParaRPr lang="en-US"/>
          </a:p>
        </p:txBody>
      </p:sp>
    </p:spTree>
    <p:extLst>
      <p:ext uri="{BB962C8B-B14F-4D97-AF65-F5344CB8AC3E}">
        <p14:creationId xmlns:p14="http://schemas.microsoft.com/office/powerpoint/2010/main" val="2088250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E8F97-826B-4700-BBEB-B6A8F42981BC}"/>
              </a:ext>
            </a:extLst>
          </p:cNvPr>
          <p:cNvSpPr>
            <a:spLocks noGrp="1"/>
          </p:cNvSpPr>
          <p:nvPr>
            <p:ph type="title"/>
          </p:nvPr>
        </p:nvSpPr>
        <p:spPr/>
        <p:txBody>
          <a:bodyPr/>
          <a:lstStyle/>
          <a:p>
            <a:r>
              <a:rPr lang="en-US" sz="5400" dirty="0"/>
              <a:t>Battery Energy Storage System using recycled batteries</a:t>
            </a:r>
          </a:p>
        </p:txBody>
      </p:sp>
      <p:sp>
        <p:nvSpPr>
          <p:cNvPr id="3" name="Content Placeholder 2">
            <a:extLst>
              <a:ext uri="{FF2B5EF4-FFF2-40B4-BE49-F238E27FC236}">
                <a16:creationId xmlns:a16="http://schemas.microsoft.com/office/drawing/2014/main" id="{621E290A-AC46-43EF-BEE2-DA1CF0D6BA98}"/>
              </a:ext>
            </a:extLst>
          </p:cNvPr>
          <p:cNvSpPr>
            <a:spLocks noGrp="1"/>
          </p:cNvSpPr>
          <p:nvPr>
            <p:ph idx="1"/>
          </p:nvPr>
        </p:nvSpPr>
        <p:spPr/>
        <p:txBody>
          <a:bodyPr>
            <a:normAutofit/>
          </a:bodyPr>
          <a:lstStyle/>
          <a:p>
            <a:pPr lvl="1"/>
            <a:r>
              <a:rPr lang="en-US" sz="2400" dirty="0"/>
              <a:t>Revive/rejuvenate lead-based and Lithium based batteries</a:t>
            </a:r>
          </a:p>
          <a:p>
            <a:pPr lvl="2"/>
            <a:r>
              <a:rPr lang="en-US" sz="1800" dirty="0"/>
              <a:t>Multi loop Multi-stage charging</a:t>
            </a:r>
          </a:p>
          <a:p>
            <a:pPr lvl="1"/>
            <a:r>
              <a:rPr lang="en-US" sz="2400" dirty="0"/>
              <a:t>Smart battery management unit</a:t>
            </a:r>
          </a:p>
          <a:p>
            <a:pPr lvl="2"/>
            <a:r>
              <a:rPr lang="en-US" sz="1800" dirty="0"/>
              <a:t>Combined with Revive/rejuvenate function</a:t>
            </a:r>
          </a:p>
        </p:txBody>
      </p:sp>
      <p:sp>
        <p:nvSpPr>
          <p:cNvPr id="6" name="Slide Number Placeholder 5">
            <a:extLst>
              <a:ext uri="{FF2B5EF4-FFF2-40B4-BE49-F238E27FC236}">
                <a16:creationId xmlns:a16="http://schemas.microsoft.com/office/drawing/2014/main" id="{61410DF6-0526-4FCA-8705-E320E5F0A800}"/>
              </a:ext>
            </a:extLst>
          </p:cNvPr>
          <p:cNvSpPr>
            <a:spLocks noGrp="1"/>
          </p:cNvSpPr>
          <p:nvPr>
            <p:ph type="sldNum" sz="quarter" idx="12"/>
          </p:nvPr>
        </p:nvSpPr>
        <p:spPr/>
        <p:txBody>
          <a:bodyPr/>
          <a:lstStyle/>
          <a:p>
            <a:fld id="{FF6218B2-9446-4C1C-B97F-2846FEECC8E2}" type="slidenum">
              <a:rPr lang="en-US" smtClean="0"/>
              <a:t>14</a:t>
            </a:fld>
            <a:endParaRPr lang="en-US"/>
          </a:p>
        </p:txBody>
      </p:sp>
    </p:spTree>
    <p:extLst>
      <p:ext uri="{BB962C8B-B14F-4D97-AF65-F5344CB8AC3E}">
        <p14:creationId xmlns:p14="http://schemas.microsoft.com/office/powerpoint/2010/main" val="2453993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A451F-1E8F-4E29-9BC7-4EF9A32770F0}"/>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C017F8A-2BD4-46D6-8C07-F8DCBF8085FC}"/>
              </a:ext>
            </a:extLst>
          </p:cNvPr>
          <p:cNvSpPr>
            <a:spLocks noGrp="1"/>
          </p:cNvSpPr>
          <p:nvPr>
            <p:ph idx="1"/>
          </p:nvPr>
        </p:nvSpPr>
        <p:spPr/>
        <p:txBody>
          <a:bodyPr/>
          <a:lstStyle/>
          <a:p>
            <a:r>
              <a:rPr lang="en-US" dirty="0"/>
              <a:t>Issues with LEAD ACID Batteries</a:t>
            </a:r>
          </a:p>
          <a:p>
            <a:pPr lvl="1"/>
            <a:r>
              <a:rPr lang="en-US" dirty="0"/>
              <a:t>SULFATION</a:t>
            </a:r>
          </a:p>
          <a:p>
            <a:pPr lvl="1"/>
            <a:r>
              <a:rPr lang="en-US" dirty="0"/>
              <a:t>CELL UNBALANCE</a:t>
            </a:r>
          </a:p>
          <a:p>
            <a:pPr lvl="1"/>
            <a:r>
              <a:rPr lang="en-US" dirty="0"/>
              <a:t>AGING OF ELECTRODE</a:t>
            </a:r>
          </a:p>
          <a:p>
            <a:r>
              <a:rPr lang="en-US" dirty="0"/>
              <a:t>Solutions</a:t>
            </a:r>
          </a:p>
          <a:p>
            <a:pPr lvl="1"/>
            <a:r>
              <a:rPr lang="en-US" dirty="0"/>
              <a:t>Using chemical to remove sulfation </a:t>
            </a:r>
            <a:r>
              <a:rPr lang="ja-JP" altLang="en-US" dirty="0"/>
              <a:t>⇒ </a:t>
            </a:r>
            <a:r>
              <a:rPr lang="en-US" dirty="0"/>
              <a:t>cannot solve Cell unbalance</a:t>
            </a:r>
          </a:p>
          <a:p>
            <a:pPr lvl="1"/>
            <a:r>
              <a:rPr lang="en-US" dirty="0"/>
              <a:t>Using high power pulse to remove sulfation </a:t>
            </a:r>
            <a:r>
              <a:rPr lang="ja-JP" altLang="en-US" dirty="0"/>
              <a:t>⇒ </a:t>
            </a:r>
            <a:r>
              <a:rPr lang="en-US" altLang="ja-JP" dirty="0"/>
              <a:t>unreliable, </a:t>
            </a:r>
            <a:r>
              <a:rPr lang="en-US" dirty="0"/>
              <a:t>cannot </a:t>
            </a:r>
          </a:p>
          <a:p>
            <a:pPr marL="128016" lvl="1" indent="0">
              <a:buNone/>
            </a:pPr>
            <a:r>
              <a:rPr lang="en-US" dirty="0"/>
              <a:t>   solve Cell unbalance</a:t>
            </a:r>
          </a:p>
        </p:txBody>
      </p:sp>
      <p:sp>
        <p:nvSpPr>
          <p:cNvPr id="4" name="Slide Number Placeholder 3">
            <a:extLst>
              <a:ext uri="{FF2B5EF4-FFF2-40B4-BE49-F238E27FC236}">
                <a16:creationId xmlns:a16="http://schemas.microsoft.com/office/drawing/2014/main" id="{A2BB68DE-DC8F-404B-B807-620038B890F5}"/>
              </a:ext>
            </a:extLst>
          </p:cNvPr>
          <p:cNvSpPr>
            <a:spLocks noGrp="1"/>
          </p:cNvSpPr>
          <p:nvPr>
            <p:ph type="sldNum" sz="quarter" idx="12"/>
          </p:nvPr>
        </p:nvSpPr>
        <p:spPr/>
        <p:txBody>
          <a:bodyPr/>
          <a:lstStyle/>
          <a:p>
            <a:fld id="{FF6218B2-9446-4C1C-B97F-2846FEECC8E2}" type="slidenum">
              <a:rPr lang="en-US" smtClean="0"/>
              <a:t>15</a:t>
            </a:fld>
            <a:endParaRPr lang="en-US"/>
          </a:p>
        </p:txBody>
      </p:sp>
      <p:pic>
        <p:nvPicPr>
          <p:cNvPr id="5" name="図 7">
            <a:extLst>
              <a:ext uri="{FF2B5EF4-FFF2-40B4-BE49-F238E27FC236}">
                <a16:creationId xmlns:a16="http://schemas.microsoft.com/office/drawing/2014/main" id="{68F2961C-3158-41E5-83F3-43720436E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1052" y="1992992"/>
            <a:ext cx="2560960" cy="2080780"/>
          </a:xfrm>
          <a:prstGeom prst="rect">
            <a:avLst/>
          </a:prstGeom>
        </p:spPr>
      </p:pic>
      <p:pic>
        <p:nvPicPr>
          <p:cNvPr id="6" name="図 8">
            <a:extLst>
              <a:ext uri="{FF2B5EF4-FFF2-40B4-BE49-F238E27FC236}">
                <a16:creationId xmlns:a16="http://schemas.microsoft.com/office/drawing/2014/main" id="{F647E3DD-FFE8-4F45-A514-90B52C2AEB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4002" y="4270878"/>
            <a:ext cx="2578011" cy="2094634"/>
          </a:xfrm>
          <a:prstGeom prst="rect">
            <a:avLst/>
          </a:prstGeom>
        </p:spPr>
      </p:pic>
    </p:spTree>
    <p:extLst>
      <p:ext uri="{BB962C8B-B14F-4D97-AF65-F5344CB8AC3E}">
        <p14:creationId xmlns:p14="http://schemas.microsoft.com/office/powerpoint/2010/main" val="1471357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736F-4DDA-4AA4-86B8-693548447D34}"/>
              </a:ext>
            </a:extLst>
          </p:cNvPr>
          <p:cNvSpPr>
            <a:spLocks noGrp="1"/>
          </p:cNvSpPr>
          <p:nvPr>
            <p:ph type="title"/>
          </p:nvPr>
        </p:nvSpPr>
        <p:spPr/>
        <p:txBody>
          <a:bodyPr/>
          <a:lstStyle/>
          <a:p>
            <a:r>
              <a:rPr lang="en-US" sz="5400" dirty="0"/>
              <a:t>Multi loop Multi-stage charging</a:t>
            </a:r>
            <a:endParaRPr lang="en-US" dirty="0"/>
          </a:p>
        </p:txBody>
      </p:sp>
      <p:sp>
        <p:nvSpPr>
          <p:cNvPr id="4" name="Slide Number Placeholder 3">
            <a:extLst>
              <a:ext uri="{FF2B5EF4-FFF2-40B4-BE49-F238E27FC236}">
                <a16:creationId xmlns:a16="http://schemas.microsoft.com/office/drawing/2014/main" id="{081DE719-D099-4F7B-B9B7-AC83ADFD4C0F}"/>
              </a:ext>
            </a:extLst>
          </p:cNvPr>
          <p:cNvSpPr>
            <a:spLocks noGrp="1"/>
          </p:cNvSpPr>
          <p:nvPr>
            <p:ph type="sldNum" sz="quarter" idx="12"/>
          </p:nvPr>
        </p:nvSpPr>
        <p:spPr/>
        <p:txBody>
          <a:bodyPr/>
          <a:lstStyle/>
          <a:p>
            <a:fld id="{FF6218B2-9446-4C1C-B97F-2846FEECC8E2}" type="slidenum">
              <a:rPr lang="en-US" smtClean="0"/>
              <a:t>16</a:t>
            </a:fld>
            <a:endParaRPr lang="en-US"/>
          </a:p>
        </p:txBody>
      </p:sp>
      <p:pic>
        <p:nvPicPr>
          <p:cNvPr id="5" name="Picture 4">
            <a:extLst>
              <a:ext uri="{FF2B5EF4-FFF2-40B4-BE49-F238E27FC236}">
                <a16:creationId xmlns:a16="http://schemas.microsoft.com/office/drawing/2014/main" id="{DE9173ED-C4D3-4FDA-AAC9-C71106279B96}"/>
              </a:ext>
            </a:extLst>
          </p:cNvPr>
          <p:cNvPicPr>
            <a:picLocks noChangeAspect="1"/>
          </p:cNvPicPr>
          <p:nvPr/>
        </p:nvPicPr>
        <p:blipFill>
          <a:blip r:embed="rId2"/>
          <a:stretch>
            <a:fillRect/>
          </a:stretch>
        </p:blipFill>
        <p:spPr>
          <a:xfrm>
            <a:off x="2148809" y="1825143"/>
            <a:ext cx="7882770" cy="4447641"/>
          </a:xfrm>
          <a:prstGeom prst="rect">
            <a:avLst/>
          </a:prstGeom>
        </p:spPr>
      </p:pic>
    </p:spTree>
    <p:extLst>
      <p:ext uri="{BB962C8B-B14F-4D97-AF65-F5344CB8AC3E}">
        <p14:creationId xmlns:p14="http://schemas.microsoft.com/office/powerpoint/2010/main" val="259550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D70A0-2A7E-4D9B-8F08-D5837B7D7D9B}"/>
              </a:ext>
            </a:extLst>
          </p:cNvPr>
          <p:cNvSpPr>
            <a:spLocks noGrp="1"/>
          </p:cNvSpPr>
          <p:nvPr>
            <p:ph type="title"/>
          </p:nvPr>
        </p:nvSpPr>
        <p:spPr/>
        <p:txBody>
          <a:bodyPr/>
          <a:lstStyle/>
          <a:p>
            <a:r>
              <a:rPr lang="en-US" dirty="0"/>
              <a:t>Why more effective: Detecting abnormality</a:t>
            </a:r>
          </a:p>
        </p:txBody>
      </p:sp>
      <p:sp>
        <p:nvSpPr>
          <p:cNvPr id="3" name="Content Placeholder 2">
            <a:extLst>
              <a:ext uri="{FF2B5EF4-FFF2-40B4-BE49-F238E27FC236}">
                <a16:creationId xmlns:a16="http://schemas.microsoft.com/office/drawing/2014/main" id="{F396535F-C6BF-4056-ABAC-24BAA463F0ED}"/>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EDF22EDC-2A12-45D1-B517-497D92B7994D}"/>
              </a:ext>
            </a:extLst>
          </p:cNvPr>
          <p:cNvSpPr>
            <a:spLocks noGrp="1"/>
          </p:cNvSpPr>
          <p:nvPr>
            <p:ph type="sldNum" sz="quarter" idx="12"/>
          </p:nvPr>
        </p:nvSpPr>
        <p:spPr/>
        <p:txBody>
          <a:bodyPr/>
          <a:lstStyle/>
          <a:p>
            <a:fld id="{FF6218B2-9446-4C1C-B97F-2846FEECC8E2}" type="slidenum">
              <a:rPr lang="en-US" smtClean="0"/>
              <a:t>17</a:t>
            </a:fld>
            <a:endParaRPr lang="en-US"/>
          </a:p>
        </p:txBody>
      </p:sp>
      <p:pic>
        <p:nvPicPr>
          <p:cNvPr id="13" name="Picture 12">
            <a:extLst>
              <a:ext uri="{FF2B5EF4-FFF2-40B4-BE49-F238E27FC236}">
                <a16:creationId xmlns:a16="http://schemas.microsoft.com/office/drawing/2014/main" id="{BF5B9DAB-84A1-4A59-9C93-14B63B6DCE0C}"/>
              </a:ext>
            </a:extLst>
          </p:cNvPr>
          <p:cNvPicPr>
            <a:picLocks noChangeAspect="1"/>
          </p:cNvPicPr>
          <p:nvPr/>
        </p:nvPicPr>
        <p:blipFill>
          <a:blip r:embed="rId2"/>
          <a:stretch>
            <a:fillRect/>
          </a:stretch>
        </p:blipFill>
        <p:spPr>
          <a:xfrm>
            <a:off x="510073" y="1833548"/>
            <a:ext cx="8678638" cy="2427431"/>
          </a:xfrm>
          <a:prstGeom prst="rect">
            <a:avLst/>
          </a:prstGeom>
        </p:spPr>
      </p:pic>
      <p:pic>
        <p:nvPicPr>
          <p:cNvPr id="15" name="Picture 14">
            <a:extLst>
              <a:ext uri="{FF2B5EF4-FFF2-40B4-BE49-F238E27FC236}">
                <a16:creationId xmlns:a16="http://schemas.microsoft.com/office/drawing/2014/main" id="{9D9A1F35-6DF2-4C9E-9858-36FBE12EF0C0}"/>
              </a:ext>
            </a:extLst>
          </p:cNvPr>
          <p:cNvPicPr>
            <a:picLocks noChangeAspect="1"/>
          </p:cNvPicPr>
          <p:nvPr/>
        </p:nvPicPr>
        <p:blipFill>
          <a:blip r:embed="rId3"/>
          <a:stretch>
            <a:fillRect/>
          </a:stretch>
        </p:blipFill>
        <p:spPr>
          <a:xfrm>
            <a:off x="4524440" y="4391608"/>
            <a:ext cx="7667560" cy="2557192"/>
          </a:xfrm>
          <a:prstGeom prst="rect">
            <a:avLst/>
          </a:prstGeom>
        </p:spPr>
      </p:pic>
    </p:spTree>
    <p:extLst>
      <p:ext uri="{BB962C8B-B14F-4D97-AF65-F5344CB8AC3E}">
        <p14:creationId xmlns:p14="http://schemas.microsoft.com/office/powerpoint/2010/main" val="23253330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3843-08F9-4184-85B6-95D0B0CBB713}"/>
              </a:ext>
            </a:extLst>
          </p:cNvPr>
          <p:cNvSpPr>
            <a:spLocks noGrp="1"/>
          </p:cNvSpPr>
          <p:nvPr>
            <p:ph type="title"/>
          </p:nvPr>
        </p:nvSpPr>
        <p:spPr/>
        <p:txBody>
          <a:bodyPr/>
          <a:lstStyle/>
          <a:p>
            <a:r>
              <a:rPr lang="en-US" dirty="0"/>
              <a:t>Typical result</a:t>
            </a:r>
          </a:p>
        </p:txBody>
      </p:sp>
      <p:sp>
        <p:nvSpPr>
          <p:cNvPr id="4" name="Slide Number Placeholder 3">
            <a:extLst>
              <a:ext uri="{FF2B5EF4-FFF2-40B4-BE49-F238E27FC236}">
                <a16:creationId xmlns:a16="http://schemas.microsoft.com/office/drawing/2014/main" id="{8623AC15-C990-4AE8-9259-3128D4CC6C6C}"/>
              </a:ext>
            </a:extLst>
          </p:cNvPr>
          <p:cNvSpPr>
            <a:spLocks noGrp="1"/>
          </p:cNvSpPr>
          <p:nvPr>
            <p:ph type="sldNum" sz="quarter" idx="12"/>
          </p:nvPr>
        </p:nvSpPr>
        <p:spPr/>
        <p:txBody>
          <a:bodyPr/>
          <a:lstStyle/>
          <a:p>
            <a:fld id="{FF6218B2-9446-4C1C-B97F-2846FEECC8E2}" type="slidenum">
              <a:rPr lang="en-US" smtClean="0"/>
              <a:t>18</a:t>
            </a:fld>
            <a:endParaRPr lang="en-US"/>
          </a:p>
        </p:txBody>
      </p:sp>
      <p:pic>
        <p:nvPicPr>
          <p:cNvPr id="14" name="Picture 13">
            <a:extLst>
              <a:ext uri="{FF2B5EF4-FFF2-40B4-BE49-F238E27FC236}">
                <a16:creationId xmlns:a16="http://schemas.microsoft.com/office/drawing/2014/main" id="{E122DDA0-A10D-4323-95CA-FF6454672FEF}"/>
              </a:ext>
            </a:extLst>
          </p:cNvPr>
          <p:cNvPicPr>
            <a:picLocks noChangeAspect="1"/>
          </p:cNvPicPr>
          <p:nvPr/>
        </p:nvPicPr>
        <p:blipFill>
          <a:blip r:embed="rId2"/>
          <a:stretch>
            <a:fillRect/>
          </a:stretch>
        </p:blipFill>
        <p:spPr>
          <a:xfrm>
            <a:off x="1760375" y="1885949"/>
            <a:ext cx="7459690" cy="4423411"/>
          </a:xfrm>
          <a:prstGeom prst="rect">
            <a:avLst/>
          </a:prstGeom>
        </p:spPr>
      </p:pic>
    </p:spTree>
    <p:extLst>
      <p:ext uri="{BB962C8B-B14F-4D97-AF65-F5344CB8AC3E}">
        <p14:creationId xmlns:p14="http://schemas.microsoft.com/office/powerpoint/2010/main" val="263701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B4726-AD84-4E37-B2ED-5E6F4793C7B6}"/>
              </a:ext>
            </a:extLst>
          </p:cNvPr>
          <p:cNvSpPr>
            <a:spLocks noGrp="1"/>
          </p:cNvSpPr>
          <p:nvPr>
            <p:ph type="title"/>
          </p:nvPr>
        </p:nvSpPr>
        <p:spPr/>
        <p:txBody>
          <a:bodyPr/>
          <a:lstStyle/>
          <a:p>
            <a:r>
              <a:rPr lang="en-US" dirty="0"/>
              <a:t>TRIAL with LITHIUM BATTERY</a:t>
            </a:r>
          </a:p>
        </p:txBody>
      </p:sp>
      <p:sp>
        <p:nvSpPr>
          <p:cNvPr id="3" name="Content Placeholder 2">
            <a:extLst>
              <a:ext uri="{FF2B5EF4-FFF2-40B4-BE49-F238E27FC236}">
                <a16:creationId xmlns:a16="http://schemas.microsoft.com/office/drawing/2014/main" id="{FB1ACD06-40AE-43CB-8218-1C917BFA8D4C}"/>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15B88CC3-4B92-4682-B4AC-D029C4ADEF19}"/>
              </a:ext>
            </a:extLst>
          </p:cNvPr>
          <p:cNvSpPr>
            <a:spLocks noGrp="1"/>
          </p:cNvSpPr>
          <p:nvPr>
            <p:ph type="sldNum" sz="quarter" idx="12"/>
          </p:nvPr>
        </p:nvSpPr>
        <p:spPr/>
        <p:txBody>
          <a:bodyPr/>
          <a:lstStyle/>
          <a:p>
            <a:fld id="{FF6218B2-9446-4C1C-B97F-2846FEECC8E2}" type="slidenum">
              <a:rPr lang="en-US" smtClean="0"/>
              <a:t>19</a:t>
            </a:fld>
            <a:endParaRPr lang="en-US"/>
          </a:p>
        </p:txBody>
      </p:sp>
      <p:pic>
        <p:nvPicPr>
          <p:cNvPr id="6" name="Picture 5">
            <a:extLst>
              <a:ext uri="{FF2B5EF4-FFF2-40B4-BE49-F238E27FC236}">
                <a16:creationId xmlns:a16="http://schemas.microsoft.com/office/drawing/2014/main" id="{C749CD7F-0CC6-48A9-955A-1C7ADA0FE3C4}"/>
              </a:ext>
            </a:extLst>
          </p:cNvPr>
          <p:cNvPicPr>
            <a:picLocks noChangeAspect="1"/>
          </p:cNvPicPr>
          <p:nvPr/>
        </p:nvPicPr>
        <p:blipFill>
          <a:blip r:embed="rId2"/>
          <a:stretch>
            <a:fillRect/>
          </a:stretch>
        </p:blipFill>
        <p:spPr>
          <a:xfrm>
            <a:off x="3829949" y="1886392"/>
            <a:ext cx="6914251" cy="4716807"/>
          </a:xfrm>
          <a:prstGeom prst="rect">
            <a:avLst/>
          </a:prstGeom>
        </p:spPr>
      </p:pic>
    </p:spTree>
    <p:extLst>
      <p:ext uri="{BB962C8B-B14F-4D97-AF65-F5344CB8AC3E}">
        <p14:creationId xmlns:p14="http://schemas.microsoft.com/office/powerpoint/2010/main" val="8995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31278-2286-4BE3-8807-2E06BDD731D8}"/>
              </a:ext>
            </a:extLst>
          </p:cNvPr>
          <p:cNvSpPr>
            <a:spLocks noGrp="1"/>
          </p:cNvSpPr>
          <p:nvPr>
            <p:ph type="title"/>
          </p:nvPr>
        </p:nvSpPr>
        <p:spPr/>
        <p:txBody>
          <a:bodyPr>
            <a:normAutofit fontScale="90000"/>
          </a:bodyPr>
          <a:lstStyle/>
          <a:p>
            <a:r>
              <a:rPr lang="en-US" dirty="0"/>
              <a:t>My favorite research and educational approach: Multi-Discipline</a:t>
            </a:r>
          </a:p>
        </p:txBody>
      </p:sp>
      <p:sp>
        <p:nvSpPr>
          <p:cNvPr id="3" name="Text Placeholder 2">
            <a:extLst>
              <a:ext uri="{FF2B5EF4-FFF2-40B4-BE49-F238E27FC236}">
                <a16:creationId xmlns:a16="http://schemas.microsoft.com/office/drawing/2014/main" id="{DE720960-CED9-4302-B16A-684779DAABF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816802-70B8-41AB-BFAE-E122CBDFC813}"/>
              </a:ext>
            </a:extLst>
          </p:cNvPr>
          <p:cNvSpPr>
            <a:spLocks noGrp="1"/>
          </p:cNvSpPr>
          <p:nvPr>
            <p:ph type="sldNum" sz="quarter" idx="12"/>
          </p:nvPr>
        </p:nvSpPr>
        <p:spPr/>
        <p:txBody>
          <a:bodyPr/>
          <a:lstStyle/>
          <a:p>
            <a:fld id="{FF6218B2-9446-4C1C-B97F-2846FEECC8E2}" type="slidenum">
              <a:rPr lang="en-US" smtClean="0"/>
              <a:t>20</a:t>
            </a:fld>
            <a:endParaRPr lang="en-US"/>
          </a:p>
        </p:txBody>
      </p:sp>
    </p:spTree>
    <p:extLst>
      <p:ext uri="{BB962C8B-B14F-4D97-AF65-F5344CB8AC3E}">
        <p14:creationId xmlns:p14="http://schemas.microsoft.com/office/powerpoint/2010/main" val="403269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569D9-C893-4D2F-8164-EAF7F15A1706}"/>
              </a:ext>
            </a:extLst>
          </p:cNvPr>
          <p:cNvSpPr>
            <a:spLocks noGrp="1"/>
          </p:cNvSpPr>
          <p:nvPr>
            <p:ph type="title"/>
          </p:nvPr>
        </p:nvSpPr>
        <p:spPr/>
        <p:txBody>
          <a:bodyPr/>
          <a:lstStyle/>
          <a:p>
            <a:r>
              <a:rPr lang="en-US" dirty="0"/>
              <a:t>My favorite educational approach: Multi discipline </a:t>
            </a:r>
          </a:p>
        </p:txBody>
      </p:sp>
      <p:sp>
        <p:nvSpPr>
          <p:cNvPr id="3" name="Content Placeholder 2">
            <a:extLst>
              <a:ext uri="{FF2B5EF4-FFF2-40B4-BE49-F238E27FC236}">
                <a16:creationId xmlns:a16="http://schemas.microsoft.com/office/drawing/2014/main" id="{2FE68D4B-D57C-4887-92B6-0C51B902A514}"/>
              </a:ext>
            </a:extLst>
          </p:cNvPr>
          <p:cNvSpPr>
            <a:spLocks noGrp="1"/>
          </p:cNvSpPr>
          <p:nvPr>
            <p:ph idx="1"/>
          </p:nvPr>
        </p:nvSpPr>
        <p:spPr/>
        <p:txBody>
          <a:bodyPr/>
          <a:lstStyle/>
          <a:p>
            <a:r>
              <a:rPr lang="en-US" dirty="0"/>
              <a:t>Multi discipline approach</a:t>
            </a:r>
          </a:p>
          <a:p>
            <a:pPr lvl="1"/>
            <a:r>
              <a:rPr lang="en-US" dirty="0"/>
              <a:t>Combine knowledges/skills on several areas to invent/develop a useful solution</a:t>
            </a:r>
          </a:p>
          <a:p>
            <a:pPr lvl="1"/>
            <a:r>
              <a:rPr lang="en-US" dirty="0"/>
              <a:t>Anything you know will become useful at some stage</a:t>
            </a:r>
          </a:p>
          <a:p>
            <a:pPr lvl="1"/>
            <a:r>
              <a:rPr lang="en-US" dirty="0"/>
              <a:t>Will be more suitable if you are planning to work on real world problems/industry, but can be helpful in theoretical academic research as well</a:t>
            </a:r>
          </a:p>
          <a:p>
            <a:pPr lvl="1"/>
            <a:r>
              <a:rPr lang="en-US" dirty="0"/>
              <a:t>Example: development of blue-light LED</a:t>
            </a:r>
          </a:p>
          <a:p>
            <a:endParaRPr lang="en-US" dirty="0"/>
          </a:p>
          <a:p>
            <a:endParaRPr lang="en-US" dirty="0"/>
          </a:p>
        </p:txBody>
      </p:sp>
      <p:sp>
        <p:nvSpPr>
          <p:cNvPr id="4" name="Slide Number Placeholder 3">
            <a:extLst>
              <a:ext uri="{FF2B5EF4-FFF2-40B4-BE49-F238E27FC236}">
                <a16:creationId xmlns:a16="http://schemas.microsoft.com/office/drawing/2014/main" id="{66DA31C8-6C25-4CAC-AF6C-914EFA86B610}"/>
              </a:ext>
            </a:extLst>
          </p:cNvPr>
          <p:cNvSpPr>
            <a:spLocks noGrp="1"/>
          </p:cNvSpPr>
          <p:nvPr>
            <p:ph type="sldNum" sz="quarter" idx="12"/>
          </p:nvPr>
        </p:nvSpPr>
        <p:spPr/>
        <p:txBody>
          <a:bodyPr/>
          <a:lstStyle/>
          <a:p>
            <a:fld id="{FF6218B2-9446-4C1C-B97F-2846FEECC8E2}" type="slidenum">
              <a:rPr lang="en-US" smtClean="0"/>
              <a:t>21</a:t>
            </a:fld>
            <a:endParaRPr lang="en-US"/>
          </a:p>
        </p:txBody>
      </p:sp>
    </p:spTree>
    <p:extLst>
      <p:ext uri="{BB962C8B-B14F-4D97-AF65-F5344CB8AC3E}">
        <p14:creationId xmlns:p14="http://schemas.microsoft.com/office/powerpoint/2010/main" val="2966246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52CD5-1572-4AC4-8437-6221FAE96E0B}"/>
              </a:ext>
            </a:extLst>
          </p:cNvPr>
          <p:cNvSpPr>
            <a:spLocks noGrp="1"/>
          </p:cNvSpPr>
          <p:nvPr>
            <p:ph type="title"/>
          </p:nvPr>
        </p:nvSpPr>
        <p:spPr/>
        <p:txBody>
          <a:bodyPr/>
          <a:lstStyle/>
          <a:p>
            <a:r>
              <a:rPr lang="en-US" dirty="0"/>
              <a:t>The case for multi discipline: Blue light LED</a:t>
            </a:r>
          </a:p>
        </p:txBody>
      </p:sp>
      <p:sp>
        <p:nvSpPr>
          <p:cNvPr id="3" name="Content Placeholder 2">
            <a:extLst>
              <a:ext uri="{FF2B5EF4-FFF2-40B4-BE49-F238E27FC236}">
                <a16:creationId xmlns:a16="http://schemas.microsoft.com/office/drawing/2014/main" id="{0A75260D-DB0D-4AE5-83BD-EE9F4E0B97DF}"/>
              </a:ext>
            </a:extLst>
          </p:cNvPr>
          <p:cNvSpPr>
            <a:spLocks noGrp="1"/>
          </p:cNvSpPr>
          <p:nvPr>
            <p:ph idx="1"/>
          </p:nvPr>
        </p:nvSpPr>
        <p:spPr/>
        <p:txBody>
          <a:bodyPr/>
          <a:lstStyle/>
          <a:p>
            <a:r>
              <a:rPr lang="en-US" dirty="0"/>
              <a:t>1962: First visible light LED</a:t>
            </a:r>
          </a:p>
          <a:p>
            <a:r>
              <a:rPr lang="en-US" dirty="0"/>
              <a:t>1968: the red light LEDs became practical and commercially viable</a:t>
            </a:r>
          </a:p>
          <a:p>
            <a:r>
              <a:rPr lang="en-US" dirty="0"/>
              <a:t>1970s: commercially viable green LED was created </a:t>
            </a:r>
          </a:p>
          <a:p>
            <a:r>
              <a:rPr lang="en-US" dirty="0"/>
              <a:t>1972: blue light LED initially discovered (very low brightness)</a:t>
            </a:r>
          </a:p>
          <a:p>
            <a:r>
              <a:rPr lang="en-US" dirty="0"/>
              <a:t>1993: </a:t>
            </a:r>
            <a:r>
              <a:rPr lang="en-US" b="1" dirty="0"/>
              <a:t>Shuji Nakamura </a:t>
            </a:r>
            <a:r>
              <a:rPr lang="en-US" dirty="0"/>
              <a:t>from Japan produce blue light LED that is bright enough for lighting purpose</a:t>
            </a:r>
          </a:p>
          <a:p>
            <a:endParaRPr lang="en-US" dirty="0"/>
          </a:p>
          <a:p>
            <a:endParaRPr lang="en-US" dirty="0"/>
          </a:p>
        </p:txBody>
      </p:sp>
      <p:sp>
        <p:nvSpPr>
          <p:cNvPr id="5" name="Slide Number Placeholder 4">
            <a:extLst>
              <a:ext uri="{FF2B5EF4-FFF2-40B4-BE49-F238E27FC236}">
                <a16:creationId xmlns:a16="http://schemas.microsoft.com/office/drawing/2014/main" id="{7944A15B-D22E-4C2F-964E-3D49077C525C}"/>
              </a:ext>
            </a:extLst>
          </p:cNvPr>
          <p:cNvSpPr>
            <a:spLocks noGrp="1"/>
          </p:cNvSpPr>
          <p:nvPr>
            <p:ph type="sldNum" sz="quarter" idx="12"/>
          </p:nvPr>
        </p:nvSpPr>
        <p:spPr/>
        <p:txBody>
          <a:bodyPr/>
          <a:lstStyle/>
          <a:p>
            <a:fld id="{FF6218B2-9446-4C1C-B97F-2846FEECC8E2}" type="slidenum">
              <a:rPr lang="en-US" smtClean="0"/>
              <a:t>22</a:t>
            </a:fld>
            <a:endParaRPr lang="en-US"/>
          </a:p>
        </p:txBody>
      </p:sp>
      <p:pic>
        <p:nvPicPr>
          <p:cNvPr id="4" name="Picture 2" descr="Persistence: Shuji Nakamura and the Blue Light LED">
            <a:extLst>
              <a:ext uri="{FF2B5EF4-FFF2-40B4-BE49-F238E27FC236}">
                <a16:creationId xmlns:a16="http://schemas.microsoft.com/office/drawing/2014/main" id="{C54FEA94-1300-4006-9590-286A88CF2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9016" y="4558198"/>
            <a:ext cx="2524125"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9060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FC650FDF-D52F-4CBA-B9A6-EE331F73C27F}"/>
              </a:ext>
            </a:extLst>
          </p:cNvPr>
          <p:cNvSpPr txBox="1">
            <a:spLocks/>
          </p:cNvSpPr>
          <p:nvPr/>
        </p:nvSpPr>
        <p:spPr>
          <a:xfrm>
            <a:off x="3981061" y="441650"/>
            <a:ext cx="8067869" cy="37198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Research on blue light first as an engineer, then to get his PhD</a:t>
            </a:r>
          </a:p>
          <a:p>
            <a:r>
              <a:rPr lang="en-US" sz="2000" dirty="0"/>
              <a:t>Work with Metal Organic Chemical Vapor Deposition (MOCVD) reactor to create mass, clean crystal in U.S in 12 months, enough to tweak the machine to his needs</a:t>
            </a:r>
          </a:p>
          <a:p>
            <a:r>
              <a:rPr lang="en-US" sz="2000" dirty="0"/>
              <a:t>At the time, there are two crystal candidates for making Zinc Selenide and Gallium Nitride, Mr. Nakamura chose  Gallium Nitride because it was the less preferred medium, which gave more chances for new results (for his PhD)</a:t>
            </a:r>
          </a:p>
          <a:p>
            <a:r>
              <a:rPr lang="en-US" sz="2000" dirty="0"/>
              <a:t>Due to </a:t>
            </a:r>
            <a:r>
              <a:rPr lang="en-US" sz="2000" b="1" dirty="0">
                <a:solidFill>
                  <a:srgbClr val="FF0000"/>
                </a:solidFill>
              </a:rPr>
              <a:t>his fluent uses of MOCVD reactor, he can tweak the reactor</a:t>
            </a:r>
            <a:r>
              <a:rPr lang="en-US" sz="2000" dirty="0"/>
              <a:t> to create the necessary crystal to make the blue light LED</a:t>
            </a:r>
          </a:p>
          <a:p>
            <a:endParaRPr lang="en-US" sz="2000" dirty="0"/>
          </a:p>
          <a:p>
            <a:endParaRPr lang="en-US" sz="2000" dirty="0"/>
          </a:p>
          <a:p>
            <a:endParaRPr lang="en-US" sz="2000" dirty="0"/>
          </a:p>
        </p:txBody>
      </p:sp>
      <p:pic>
        <p:nvPicPr>
          <p:cNvPr id="6" name="Picture 5">
            <a:extLst>
              <a:ext uri="{FF2B5EF4-FFF2-40B4-BE49-F238E27FC236}">
                <a16:creationId xmlns:a16="http://schemas.microsoft.com/office/drawing/2014/main" id="{21D266AC-2A9F-49C3-B012-75EA54248420}"/>
              </a:ext>
            </a:extLst>
          </p:cNvPr>
          <p:cNvPicPr>
            <a:picLocks noChangeAspect="1"/>
          </p:cNvPicPr>
          <p:nvPr/>
        </p:nvPicPr>
        <p:blipFill>
          <a:blip r:embed="rId2"/>
          <a:stretch>
            <a:fillRect/>
          </a:stretch>
        </p:blipFill>
        <p:spPr>
          <a:xfrm>
            <a:off x="474169" y="878362"/>
            <a:ext cx="3343742" cy="2448267"/>
          </a:xfrm>
          <a:prstGeom prst="rect">
            <a:avLst/>
          </a:prstGeom>
        </p:spPr>
      </p:pic>
      <p:pic>
        <p:nvPicPr>
          <p:cNvPr id="9" name="Picture 8">
            <a:extLst>
              <a:ext uri="{FF2B5EF4-FFF2-40B4-BE49-F238E27FC236}">
                <a16:creationId xmlns:a16="http://schemas.microsoft.com/office/drawing/2014/main" id="{EDD75122-F5EE-4A44-A527-AF6D78B24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9012" y="3782009"/>
            <a:ext cx="1835149" cy="2696546"/>
          </a:xfrm>
          <a:prstGeom prst="rect">
            <a:avLst/>
          </a:prstGeom>
        </p:spPr>
      </p:pic>
      <p:sp>
        <p:nvSpPr>
          <p:cNvPr id="10" name="Ribbon: Tilted Up 9">
            <a:extLst>
              <a:ext uri="{FF2B5EF4-FFF2-40B4-BE49-F238E27FC236}">
                <a16:creationId xmlns:a16="http://schemas.microsoft.com/office/drawing/2014/main" id="{17B8F24A-4768-4550-9D4A-55359A10FCD0}"/>
              </a:ext>
            </a:extLst>
          </p:cNvPr>
          <p:cNvSpPr/>
          <p:nvPr/>
        </p:nvSpPr>
        <p:spPr>
          <a:xfrm>
            <a:off x="7576457" y="4324739"/>
            <a:ext cx="4385388" cy="1990531"/>
          </a:xfrm>
          <a:prstGeom prst="ribbon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 won the 2014 Nobel Prize for Blue Light Invention</a:t>
            </a:r>
          </a:p>
        </p:txBody>
      </p:sp>
      <p:sp>
        <p:nvSpPr>
          <p:cNvPr id="13" name="Slide Number Placeholder 12">
            <a:extLst>
              <a:ext uri="{FF2B5EF4-FFF2-40B4-BE49-F238E27FC236}">
                <a16:creationId xmlns:a16="http://schemas.microsoft.com/office/drawing/2014/main" id="{4BEDE7D4-F1A2-419A-8D09-60C58C6F3378}"/>
              </a:ext>
            </a:extLst>
          </p:cNvPr>
          <p:cNvSpPr>
            <a:spLocks noGrp="1"/>
          </p:cNvSpPr>
          <p:nvPr>
            <p:ph type="sldNum" sz="quarter" idx="12"/>
          </p:nvPr>
        </p:nvSpPr>
        <p:spPr/>
        <p:txBody>
          <a:bodyPr/>
          <a:lstStyle/>
          <a:p>
            <a:fld id="{FF6218B2-9446-4C1C-B97F-2846FEECC8E2}" type="slidenum">
              <a:rPr lang="en-US" smtClean="0"/>
              <a:t>23</a:t>
            </a:fld>
            <a:endParaRPr lang="en-US"/>
          </a:p>
        </p:txBody>
      </p:sp>
    </p:spTree>
    <p:extLst>
      <p:ext uri="{BB962C8B-B14F-4D97-AF65-F5344CB8AC3E}">
        <p14:creationId xmlns:p14="http://schemas.microsoft.com/office/powerpoint/2010/main" val="11804205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4D525-0601-4A1F-A6B9-A8D6969F32E7}"/>
              </a:ext>
            </a:extLst>
          </p:cNvPr>
          <p:cNvSpPr>
            <a:spLocks noGrp="1"/>
          </p:cNvSpPr>
          <p:nvPr>
            <p:ph type="title"/>
          </p:nvPr>
        </p:nvSpPr>
        <p:spPr/>
        <p:txBody>
          <a:bodyPr/>
          <a:lstStyle/>
          <a:p>
            <a:r>
              <a:rPr lang="en-US" dirty="0"/>
              <a:t>AI: challenge and opportunity for multi discipline approach</a:t>
            </a:r>
          </a:p>
        </p:txBody>
      </p:sp>
      <p:sp>
        <p:nvSpPr>
          <p:cNvPr id="3" name="Content Placeholder 2">
            <a:extLst>
              <a:ext uri="{FF2B5EF4-FFF2-40B4-BE49-F238E27FC236}">
                <a16:creationId xmlns:a16="http://schemas.microsoft.com/office/drawing/2014/main" id="{59BFCF92-4FD2-4815-BC7D-426B3AF9E139}"/>
              </a:ext>
            </a:extLst>
          </p:cNvPr>
          <p:cNvSpPr>
            <a:spLocks noGrp="1"/>
          </p:cNvSpPr>
          <p:nvPr>
            <p:ph idx="1"/>
          </p:nvPr>
        </p:nvSpPr>
        <p:spPr/>
        <p:txBody>
          <a:bodyPr/>
          <a:lstStyle/>
          <a:p>
            <a:r>
              <a:rPr lang="en-US" dirty="0"/>
              <a:t>Challenge: competing with machine is not easy</a:t>
            </a:r>
          </a:p>
          <a:p>
            <a:r>
              <a:rPr lang="en-US" dirty="0"/>
              <a:t>Opportunity: it used to cause a lot of time to acquire a sufficient level for a skill, especially in ICT field </a:t>
            </a:r>
            <a:r>
              <a:rPr lang="ja-JP" altLang="en-US" dirty="0"/>
              <a:t>⇒ </a:t>
            </a:r>
            <a:r>
              <a:rPr lang="en-US" dirty="0"/>
              <a:t>Now you can learn the basics and learn how to use AI to do it professionally</a:t>
            </a:r>
          </a:p>
        </p:txBody>
      </p:sp>
      <p:sp>
        <p:nvSpPr>
          <p:cNvPr id="4" name="Slide Number Placeholder 3">
            <a:extLst>
              <a:ext uri="{FF2B5EF4-FFF2-40B4-BE49-F238E27FC236}">
                <a16:creationId xmlns:a16="http://schemas.microsoft.com/office/drawing/2014/main" id="{F7F1DF74-01B4-42BA-A1B9-0BC282141183}"/>
              </a:ext>
            </a:extLst>
          </p:cNvPr>
          <p:cNvSpPr>
            <a:spLocks noGrp="1"/>
          </p:cNvSpPr>
          <p:nvPr>
            <p:ph type="sldNum" sz="quarter" idx="12"/>
          </p:nvPr>
        </p:nvSpPr>
        <p:spPr/>
        <p:txBody>
          <a:bodyPr/>
          <a:lstStyle/>
          <a:p>
            <a:fld id="{FF6218B2-9446-4C1C-B97F-2846FEECC8E2}" type="slidenum">
              <a:rPr lang="en-US" smtClean="0"/>
              <a:t>24</a:t>
            </a:fld>
            <a:endParaRPr lang="en-US"/>
          </a:p>
        </p:txBody>
      </p:sp>
    </p:spTree>
    <p:extLst>
      <p:ext uri="{BB962C8B-B14F-4D97-AF65-F5344CB8AC3E}">
        <p14:creationId xmlns:p14="http://schemas.microsoft.com/office/powerpoint/2010/main" val="98031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F9867-EC0C-4937-9926-06967E69BBD0}"/>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5AA8B858-094A-4355-86D4-2C4524F121B9}"/>
              </a:ext>
            </a:extLst>
          </p:cNvPr>
          <p:cNvSpPr>
            <a:spLocks noGrp="1"/>
          </p:cNvSpPr>
          <p:nvPr>
            <p:ph idx="1"/>
          </p:nvPr>
        </p:nvSpPr>
        <p:spPr/>
        <p:txBody>
          <a:bodyPr/>
          <a:lstStyle/>
          <a:p>
            <a:r>
              <a:rPr lang="en-US" dirty="0"/>
              <a:t>Q&amp;A</a:t>
            </a:r>
          </a:p>
        </p:txBody>
      </p:sp>
      <p:sp>
        <p:nvSpPr>
          <p:cNvPr id="4" name="Slide Number Placeholder 3">
            <a:extLst>
              <a:ext uri="{FF2B5EF4-FFF2-40B4-BE49-F238E27FC236}">
                <a16:creationId xmlns:a16="http://schemas.microsoft.com/office/drawing/2014/main" id="{E61F20AA-8F20-43B7-A075-0AF5FC082243}"/>
              </a:ext>
            </a:extLst>
          </p:cNvPr>
          <p:cNvSpPr>
            <a:spLocks noGrp="1"/>
          </p:cNvSpPr>
          <p:nvPr>
            <p:ph type="sldNum" sz="quarter" idx="12"/>
          </p:nvPr>
        </p:nvSpPr>
        <p:spPr/>
        <p:txBody>
          <a:bodyPr/>
          <a:lstStyle/>
          <a:p>
            <a:fld id="{FF6218B2-9446-4C1C-B97F-2846FEECC8E2}" type="slidenum">
              <a:rPr lang="en-US" smtClean="0"/>
              <a:t>25</a:t>
            </a:fld>
            <a:endParaRPr lang="en-US"/>
          </a:p>
        </p:txBody>
      </p:sp>
    </p:spTree>
    <p:extLst>
      <p:ext uri="{BB962C8B-B14F-4D97-AF65-F5344CB8AC3E}">
        <p14:creationId xmlns:p14="http://schemas.microsoft.com/office/powerpoint/2010/main" val="27595747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593ae20-cfc4-431d-b67a-665211fa312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4000547D22255F42A08E997FA7A242B0" ma:contentTypeVersion="17" ma:contentTypeDescription="新しいドキュメントを作成します。" ma:contentTypeScope="" ma:versionID="0fb684cad9b77ae42be83892a4782b74">
  <xsd:schema xmlns:xsd="http://www.w3.org/2001/XMLSchema" xmlns:xs="http://www.w3.org/2001/XMLSchema" xmlns:p="http://schemas.microsoft.com/office/2006/metadata/properties" xmlns:ns3="9593ae20-cfc4-431d-b67a-665211fa312e" xmlns:ns4="0a6ff38c-cccd-4851-9dc5-a85dfb58a98e" targetNamespace="http://schemas.microsoft.com/office/2006/metadata/properties" ma:root="true" ma:fieldsID="e93631321ab1b71f4b4349274261eca1" ns3:_="" ns4:_="">
    <xsd:import namespace="9593ae20-cfc4-431d-b67a-665211fa312e"/>
    <xsd:import namespace="0a6ff38c-cccd-4851-9dc5-a85dfb58a98e"/>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_activity" minOccurs="0"/>
                <xsd:element ref="ns3:MediaServiceObjectDetectorVersions" minOccurs="0"/>
                <xsd:element ref="ns3:MediaServiceAutoTags" minOccurs="0"/>
                <xsd:element ref="ns3:MediaServiceLocation" minOccurs="0"/>
                <xsd:element ref="ns3:MediaServiceOCR" minOccurs="0"/>
                <xsd:element ref="ns3:MediaServiceGenerationTime" minOccurs="0"/>
                <xsd:element ref="ns3:MediaServiceEventHashCode" minOccurs="0"/>
                <xsd:element ref="ns3:MediaServiceSystemTag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93ae20-cfc4-431d-b67a-665211fa31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_activity" ma:index="15" nillable="true" ma:displayName="_activity" ma:hidden="true" ma:internalName="_activity">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a6ff38c-cccd-4851-9dc5-a85dfb58a98e"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element name="SharingHintHash" ma:index="12"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29F42D-A556-47DA-8792-D8BEB4114A1B}">
  <ds:schemaRefs>
    <ds:schemaRef ds:uri="http://purl.org/dc/dcmitype/"/>
    <ds:schemaRef ds:uri="http://purl.org/dc/terms/"/>
    <ds:schemaRef ds:uri="http://schemas.microsoft.com/office/infopath/2007/PartnerControls"/>
    <ds:schemaRef ds:uri="0a6ff38c-cccd-4851-9dc5-a85dfb58a98e"/>
    <ds:schemaRef ds:uri="http://schemas.microsoft.com/office/2006/documentManagement/types"/>
    <ds:schemaRef ds:uri="http://www.w3.org/XML/1998/namespace"/>
    <ds:schemaRef ds:uri="9593ae20-cfc4-431d-b67a-665211fa312e"/>
    <ds:schemaRef ds:uri="http://purl.org/dc/elements/1.1/"/>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589A3037-E85B-44AE-9F62-258C940DE8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93ae20-cfc4-431d-b67a-665211fa312e"/>
    <ds:schemaRef ds:uri="0a6ff38c-cccd-4851-9dc5-a85dfb58a9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F38AA6D-A9EE-4578-9BD8-5FFB201695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332</TotalTime>
  <Words>990</Words>
  <Application>Microsoft Office PowerPoint</Application>
  <PresentationFormat>Widescreen</PresentationFormat>
  <Paragraphs>145</Paragraphs>
  <Slides>25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NotoSerif-Regular</vt:lpstr>
      <vt:lpstr>Arial</vt:lpstr>
      <vt:lpstr>Arial</vt:lpstr>
      <vt:lpstr>Calibri</vt:lpstr>
      <vt:lpstr>Helvetica</vt:lpstr>
      <vt:lpstr>Tahoma</vt:lpstr>
      <vt:lpstr>Tw Cen MT</vt:lpstr>
      <vt:lpstr>Tw Cen MT Condensed</vt:lpstr>
      <vt:lpstr>Wingdings</vt:lpstr>
      <vt:lpstr>Wingdings 3</vt:lpstr>
      <vt:lpstr>Integral</vt:lpstr>
      <vt:lpstr>Transition from Academic to Business life</vt:lpstr>
      <vt:lpstr>COntents</vt:lpstr>
      <vt:lpstr>About my-self &amp; Change from academy to business</vt:lpstr>
      <vt:lpstr>About myself</vt:lpstr>
      <vt:lpstr>My transition from academic to business world</vt:lpstr>
      <vt:lpstr>My transition from academic to business world</vt:lpstr>
      <vt:lpstr>About Vietnamese Education System &amp; Current hot topics</vt:lpstr>
      <vt:lpstr>Vietnam AT A glance</vt:lpstr>
      <vt:lpstr>Vietnam education system</vt:lpstr>
      <vt:lpstr>Main characteristics of Vietnamese education system</vt:lpstr>
      <vt:lpstr>Hot EDUCATION and research topics</vt:lpstr>
      <vt:lpstr>PowerPoint Presentation</vt:lpstr>
      <vt:lpstr>About my current engineering interest</vt:lpstr>
      <vt:lpstr>Battery Energy Storage System using recycled batteries</vt:lpstr>
      <vt:lpstr>PowerPoint Presentation</vt:lpstr>
      <vt:lpstr>Multi loop Multi-stage charging</vt:lpstr>
      <vt:lpstr>Why more effective: Detecting abnormality</vt:lpstr>
      <vt:lpstr>Typical result</vt:lpstr>
      <vt:lpstr>TRIAL with LITHIUM BATTERY</vt:lpstr>
      <vt:lpstr>My favorite research and educational approach: Multi-Discipline</vt:lpstr>
      <vt:lpstr>My favorite educational approach: Multi discipline </vt:lpstr>
      <vt:lpstr>The case for multi discipline: Blue light LED</vt:lpstr>
      <vt:lpstr>PowerPoint Presentation</vt:lpstr>
      <vt:lpstr>AI: challenge and opportunity for multi discipline approach</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Transition from Academic to Business life</dc:title>
  <dc:creator>thanh vu truong</dc:creator>
  <cp:lastModifiedBy>vu truong thanh(ＴＡＰＬ HAN)</cp:lastModifiedBy>
  <cp:revision>23</cp:revision>
  <dcterms:created xsi:type="dcterms:W3CDTF">2025-12-14T14:13:25Z</dcterms:created>
  <dcterms:modified xsi:type="dcterms:W3CDTF">2025-12-19T16:57:10Z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0x0101004000547D22255F42A08E997FA7A242B0</vt:lpwstr>
  </property>
</Properties>
</file>