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15"/>
  </p:notesMasterIdLst>
  <p:sldIdLst>
    <p:sldId id="256" r:id="rId2"/>
    <p:sldId id="258" r:id="rId3"/>
    <p:sldId id="261" r:id="rId4"/>
    <p:sldId id="263" r:id="rId5"/>
    <p:sldId id="264" r:id="rId6"/>
    <p:sldId id="265" r:id="rId7"/>
    <p:sldId id="278" r:id="rId8"/>
    <p:sldId id="266" r:id="rId9"/>
    <p:sldId id="280" r:id="rId10"/>
    <p:sldId id="279" r:id="rId11"/>
    <p:sldId id="277" r:id="rId12"/>
    <p:sldId id="281" r:id="rId13"/>
    <p:sldId id="275" r:id="rId14"/>
  </p:sldIdLst>
  <p:sldSz cx="18288000" cy="10287000"/>
  <p:notesSz cx="6858000" cy="9144000"/>
  <p:embeddedFontLst>
    <p:embeddedFont>
      <p:font typeface="Archivo Black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B7BA13-665C-41A5-AF47-9F1704F2F135}">
  <a:tblStyle styleId="{24B7BA13-665C-41A5-AF47-9F1704F2F1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91" y="7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8227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ctrTitle"/>
          </p:nvPr>
        </p:nvSpPr>
        <p:spPr>
          <a:xfrm>
            <a:off x="3217225" y="1156800"/>
            <a:ext cx="110898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4313650" y="2388325"/>
            <a:ext cx="85053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3994725" y="25576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ctrTitle"/>
          </p:nvPr>
        </p:nvSpPr>
        <p:spPr>
          <a:xfrm>
            <a:off x="3217225" y="1156800"/>
            <a:ext cx="110898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4010950" y="27685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ctrTitle"/>
          </p:nvPr>
        </p:nvSpPr>
        <p:spPr>
          <a:xfrm>
            <a:off x="3217225" y="1156800"/>
            <a:ext cx="110898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9087229" y="1637750"/>
            <a:ext cx="7395900" cy="55470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1495750" y="37746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495750" y="1637750"/>
            <a:ext cx="67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 rot="5400000">
            <a:off x="4090821" y="-4090940"/>
            <a:ext cx="10287066" cy="18468946"/>
            <a:chOff x="0" y="-47625"/>
            <a:chExt cx="2709333" cy="4864217"/>
          </a:xfrm>
        </p:grpSpPr>
        <p:sp>
          <p:nvSpPr>
            <p:cNvPr id="7" name="Google Shape;7;p1"/>
            <p:cNvSpPr/>
            <p:nvPr/>
          </p:nvSpPr>
          <p:spPr>
            <a:xfrm>
              <a:off x="0" y="0"/>
              <a:ext cx="2709333" cy="4816592"/>
            </a:xfrm>
            <a:custGeom>
              <a:avLst/>
              <a:gdLst/>
              <a:ahLst/>
              <a:cxnLst/>
              <a:rect l="l" t="t" r="r" b="b"/>
              <a:pathLst>
                <a:path w="2709333" h="4816592" extrusionOk="0">
                  <a:moveTo>
                    <a:pt x="0" y="0"/>
                  </a:moveTo>
                  <a:lnTo>
                    <a:pt x="2709333" y="0"/>
                  </a:lnTo>
                  <a:lnTo>
                    <a:pt x="2709333" y="4816592"/>
                  </a:lnTo>
                  <a:lnTo>
                    <a:pt x="0" y="4816592"/>
                  </a:lnTo>
                  <a:close/>
                </a:path>
              </a:pathLst>
            </a:custGeom>
            <a:gradFill>
              <a:gsLst>
                <a:gs pos="0">
                  <a:srgbClr val="CDFFD8"/>
                </a:gs>
                <a:gs pos="100000">
                  <a:srgbClr val="94B9F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8" name="Google Shape;8;p1"/>
            <p:cNvSpPr txBox="1"/>
            <p:nvPr/>
          </p:nvSpPr>
          <p:spPr>
            <a:xfrm>
              <a:off x="0" y="-47625"/>
              <a:ext cx="8127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1495750" y="988650"/>
            <a:ext cx="14109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chivo Black"/>
              <a:buNone/>
              <a:defRPr sz="440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4108300" y="32878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accent3"/>
              </a:buClr>
              <a:buSzPts val="3200"/>
              <a:buChar char="•"/>
              <a:defRPr sz="3200" i="0" u="none" strike="noStrike" cap="none">
                <a:solidFill>
                  <a:schemeClr val="accent3"/>
                </a:solidFill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accent3"/>
              </a:buClr>
              <a:buSzPts val="2800"/>
              <a:buChar char="–"/>
              <a:defRPr sz="2800" i="0" u="none" strike="noStrike" cap="none">
                <a:solidFill>
                  <a:schemeClr val="accent3"/>
                </a:solidFill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•"/>
              <a:defRPr sz="2400" i="0" u="none" strike="noStrike" cap="none">
                <a:solidFill>
                  <a:schemeClr val="accent3"/>
                </a:solidFill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–"/>
              <a:defRPr sz="2000" i="0" u="none" strike="noStrike" cap="none">
                <a:solidFill>
                  <a:schemeClr val="accent3"/>
                </a:solidFill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»"/>
              <a:defRPr sz="2000" i="0" u="none" strike="noStrike" cap="none">
                <a:solidFill>
                  <a:schemeClr val="accent3"/>
                </a:solidFill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•"/>
              <a:defRPr sz="2000" i="0" u="none" strike="noStrike" cap="none">
                <a:solidFill>
                  <a:schemeClr val="accent3"/>
                </a:solidFill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•"/>
              <a:defRPr sz="2000" i="0" u="none" strike="noStrike" cap="none">
                <a:solidFill>
                  <a:schemeClr val="accent3"/>
                </a:solidFill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•"/>
              <a:defRPr sz="2000" i="0" u="none" strike="noStrike" cap="none">
                <a:solidFill>
                  <a:schemeClr val="accent3"/>
                </a:solidFill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•"/>
              <a:defRPr sz="2000" i="0" u="none" strike="noStrike" cap="none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jp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9"/>
          <p:cNvGrpSpPr/>
          <p:nvPr/>
        </p:nvGrpSpPr>
        <p:grpSpPr>
          <a:xfrm rot="5400000">
            <a:off x="4090915" y="-4090911"/>
            <a:ext cx="10287000" cy="18468822"/>
            <a:chOff x="0" y="-47625"/>
            <a:chExt cx="2709333" cy="4864217"/>
          </a:xfrm>
        </p:grpSpPr>
        <p:sp>
          <p:nvSpPr>
            <p:cNvPr id="36" name="Google Shape;36;p9"/>
            <p:cNvSpPr/>
            <p:nvPr/>
          </p:nvSpPr>
          <p:spPr>
            <a:xfrm>
              <a:off x="0" y="0"/>
              <a:ext cx="2709333" cy="4816592"/>
            </a:xfrm>
            <a:custGeom>
              <a:avLst/>
              <a:gdLst/>
              <a:ahLst/>
              <a:cxnLst/>
              <a:rect l="l" t="t" r="r" b="b"/>
              <a:pathLst>
                <a:path w="2709333" h="4816592" extrusionOk="0">
                  <a:moveTo>
                    <a:pt x="0" y="0"/>
                  </a:moveTo>
                  <a:lnTo>
                    <a:pt x="2709333" y="0"/>
                  </a:lnTo>
                  <a:lnTo>
                    <a:pt x="2709333" y="4816592"/>
                  </a:lnTo>
                  <a:lnTo>
                    <a:pt x="0" y="4816592"/>
                  </a:lnTo>
                  <a:close/>
                </a:path>
              </a:pathLst>
            </a:custGeom>
            <a:gradFill>
              <a:gsLst>
                <a:gs pos="0">
                  <a:srgbClr val="CDFFD8"/>
                </a:gs>
                <a:gs pos="100000">
                  <a:srgbClr val="94B9F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7" name="Google Shape;37;p9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9"/>
          <p:cNvGrpSpPr/>
          <p:nvPr/>
        </p:nvGrpSpPr>
        <p:grpSpPr>
          <a:xfrm>
            <a:off x="870313" y="567004"/>
            <a:ext cx="16645748" cy="9294084"/>
            <a:chOff x="0" y="0"/>
            <a:chExt cx="22194332" cy="12392113"/>
          </a:xfrm>
        </p:grpSpPr>
        <p:sp>
          <p:nvSpPr>
            <p:cNvPr id="39" name="Google Shape;39;p9"/>
            <p:cNvSpPr/>
            <p:nvPr/>
          </p:nvSpPr>
          <p:spPr>
            <a:xfrm>
              <a:off x="4028" y="12104970"/>
              <a:ext cx="22190303" cy="261743"/>
            </a:xfrm>
            <a:custGeom>
              <a:avLst/>
              <a:gdLst/>
              <a:ahLst/>
              <a:cxnLst/>
              <a:rect l="l" t="t" r="r" b="b"/>
              <a:pathLst>
                <a:path w="22190303" h="261743" extrusionOk="0">
                  <a:moveTo>
                    <a:pt x="0" y="0"/>
                  </a:moveTo>
                  <a:lnTo>
                    <a:pt x="22190303" y="0"/>
                  </a:lnTo>
                  <a:lnTo>
                    <a:pt x="22190303" y="261743"/>
                  </a:lnTo>
                  <a:lnTo>
                    <a:pt x="0" y="261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r="-524" b="-5575360"/>
              </a:stretch>
            </a:blipFill>
            <a:ln>
              <a:noFill/>
            </a:ln>
          </p:spPr>
        </p:sp>
        <p:sp>
          <p:nvSpPr>
            <p:cNvPr id="40" name="Google Shape;40;p9"/>
            <p:cNvSpPr/>
            <p:nvPr/>
          </p:nvSpPr>
          <p:spPr>
            <a:xfrm>
              <a:off x="0" y="77552"/>
              <a:ext cx="340312" cy="12301860"/>
            </a:xfrm>
            <a:custGeom>
              <a:avLst/>
              <a:gdLst/>
              <a:ahLst/>
              <a:cxnLst/>
              <a:rect l="l" t="t" r="r" b="b"/>
              <a:pathLst>
                <a:path w="340312" h="12301860" extrusionOk="0">
                  <a:moveTo>
                    <a:pt x="0" y="0"/>
                  </a:moveTo>
                  <a:lnTo>
                    <a:pt x="340312" y="0"/>
                  </a:lnTo>
                  <a:lnTo>
                    <a:pt x="340312" y="12301861"/>
                  </a:lnTo>
                  <a:lnTo>
                    <a:pt x="0" y="123018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r="-5322991"/>
              </a:stretch>
            </a:blipFill>
            <a:ln>
              <a:noFill/>
            </a:ln>
          </p:spPr>
        </p:sp>
        <p:sp>
          <p:nvSpPr>
            <p:cNvPr id="41" name="Google Shape;41;p9"/>
            <p:cNvSpPr/>
            <p:nvPr/>
          </p:nvSpPr>
          <p:spPr>
            <a:xfrm>
              <a:off x="4028" y="0"/>
              <a:ext cx="22190303" cy="261743"/>
            </a:xfrm>
            <a:custGeom>
              <a:avLst/>
              <a:gdLst/>
              <a:ahLst/>
              <a:cxnLst/>
              <a:rect l="l" t="t" r="r" b="b"/>
              <a:pathLst>
                <a:path w="22190303" h="261743" extrusionOk="0">
                  <a:moveTo>
                    <a:pt x="0" y="0"/>
                  </a:moveTo>
                  <a:lnTo>
                    <a:pt x="22190303" y="0"/>
                  </a:lnTo>
                  <a:lnTo>
                    <a:pt x="22190303" y="261743"/>
                  </a:lnTo>
                  <a:lnTo>
                    <a:pt x="0" y="261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r="-524" b="-5575360"/>
              </a:stretch>
            </a:blipFill>
            <a:ln>
              <a:noFill/>
            </a:ln>
          </p:spPr>
        </p:sp>
        <p:sp>
          <p:nvSpPr>
            <p:cNvPr id="42" name="Google Shape;42;p9"/>
            <p:cNvSpPr/>
            <p:nvPr/>
          </p:nvSpPr>
          <p:spPr>
            <a:xfrm rot="5400000">
              <a:off x="15859452" y="6057233"/>
              <a:ext cx="12379413" cy="290346"/>
            </a:xfrm>
            <a:custGeom>
              <a:avLst/>
              <a:gdLst/>
              <a:ahLst/>
              <a:cxnLst/>
              <a:rect l="l" t="t" r="r" b="b"/>
              <a:pathLst>
                <a:path w="12379413" h="290346" extrusionOk="0">
                  <a:moveTo>
                    <a:pt x="0" y="0"/>
                  </a:moveTo>
                  <a:lnTo>
                    <a:pt x="12379412" y="0"/>
                  </a:lnTo>
                  <a:lnTo>
                    <a:pt x="12379412" y="290346"/>
                  </a:lnTo>
                  <a:lnTo>
                    <a:pt x="0" y="2903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r="-524" b="-2755511"/>
              </a:stretch>
            </a:blipFill>
            <a:ln>
              <a:noFill/>
            </a:ln>
          </p:spPr>
        </p:sp>
      </p:grpSp>
      <p:sp>
        <p:nvSpPr>
          <p:cNvPr id="43" name="Google Shape;43;p9"/>
          <p:cNvSpPr txBox="1"/>
          <p:nvPr/>
        </p:nvSpPr>
        <p:spPr>
          <a:xfrm>
            <a:off x="2709943" y="923925"/>
            <a:ext cx="9639860" cy="6620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07" b="0" i="0" u="none" strike="noStrike" cap="none" dirty="0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</a:t>
            </a:r>
            <a:endParaRPr dirty="0"/>
          </a:p>
        </p:txBody>
      </p:sp>
      <p:sp>
        <p:nvSpPr>
          <p:cNvPr id="44" name="Google Shape;44;p9"/>
          <p:cNvSpPr/>
          <p:nvPr/>
        </p:nvSpPr>
        <p:spPr>
          <a:xfrm>
            <a:off x="11351983" y="4239589"/>
            <a:ext cx="4651211" cy="4651191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26773" r="-26772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/>
          <p:nvPr/>
        </p:nvSpPr>
        <p:spPr>
          <a:xfrm flipH="1">
            <a:off x="-3961071" y="4448264"/>
            <a:ext cx="16230600" cy="5883592"/>
          </a:xfrm>
          <a:custGeom>
            <a:avLst/>
            <a:gdLst/>
            <a:ahLst/>
            <a:cxnLst/>
            <a:rect l="l" t="t" r="r" b="b"/>
            <a:pathLst>
              <a:path w="16230600" h="5883592" extrusionOk="0">
                <a:moveTo>
                  <a:pt x="16230600" y="0"/>
                </a:moveTo>
                <a:lnTo>
                  <a:pt x="0" y="0"/>
                </a:lnTo>
                <a:lnTo>
                  <a:pt x="0" y="5883593"/>
                </a:lnTo>
                <a:lnTo>
                  <a:pt x="16230600" y="5883593"/>
                </a:lnTo>
                <a:lnTo>
                  <a:pt x="1623060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6" name="Google Shape;46;p9"/>
          <p:cNvSpPr txBox="1"/>
          <p:nvPr/>
        </p:nvSpPr>
        <p:spPr>
          <a:xfrm>
            <a:off x="1820055" y="923925"/>
            <a:ext cx="4668348" cy="761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07" dirty="0">
                <a:solidFill>
                  <a:srgbClr val="1557FF"/>
                </a:solidFill>
                <a:latin typeface="Archivo Black"/>
                <a:sym typeface="Archivo Black"/>
              </a:rPr>
              <a:t>M</a:t>
            </a:r>
            <a:endParaRPr dirty="0"/>
          </a:p>
        </p:txBody>
      </p:sp>
      <p:sp>
        <p:nvSpPr>
          <p:cNvPr id="47" name="Google Shape;47;p9"/>
          <p:cNvSpPr txBox="1"/>
          <p:nvPr/>
        </p:nvSpPr>
        <p:spPr>
          <a:xfrm>
            <a:off x="8740468" y="1766735"/>
            <a:ext cx="7611938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Theoretical Framework for machine Learning Researcher</a:t>
            </a:r>
            <a:endParaRPr sz="4800" dirty="0"/>
          </a:p>
        </p:txBody>
      </p:sp>
      <p:sp>
        <p:nvSpPr>
          <p:cNvPr id="48" name="Google Shape;48;p9"/>
          <p:cNvSpPr/>
          <p:nvPr/>
        </p:nvSpPr>
        <p:spPr>
          <a:xfrm>
            <a:off x="4882905" y="2057039"/>
            <a:ext cx="1254125" cy="1254120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78578" t="-29533" r="-25045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D1FBA6-EC5E-4BCE-6F1F-73E1852EBEC2}"/>
              </a:ext>
            </a:extLst>
          </p:cNvPr>
          <p:cNvSpPr txBox="1"/>
          <p:nvPr/>
        </p:nvSpPr>
        <p:spPr>
          <a:xfrm>
            <a:off x="8985456" y="8691623"/>
            <a:ext cx="93842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Dr. Myo Myint Oo  </a:t>
            </a:r>
          </a:p>
          <a:p>
            <a:r>
              <a:rPr lang="en-US" sz="2800" dirty="0"/>
              <a:t>Ph.D. (Computer Engineering) , PSU , Thailand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/>
        </p:nvSpPr>
        <p:spPr>
          <a:xfrm>
            <a:off x="11902626" y="5428943"/>
            <a:ext cx="6385374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Theoretical Framework for ML </a:t>
            </a:r>
            <a:endParaRPr dirty="0"/>
          </a:p>
        </p:txBody>
      </p:sp>
      <p:sp>
        <p:nvSpPr>
          <p:cNvPr id="76" name="Google Shape;76;p11"/>
          <p:cNvSpPr txBox="1"/>
          <p:nvPr/>
        </p:nvSpPr>
        <p:spPr>
          <a:xfrm>
            <a:off x="11902626" y="3217329"/>
            <a:ext cx="330607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ML with me </a:t>
            </a:r>
            <a:endParaRPr dirty="0"/>
          </a:p>
        </p:txBody>
      </p:sp>
      <p:sp>
        <p:nvSpPr>
          <p:cNvPr id="81" name="Google Shape;81;p11"/>
          <p:cNvSpPr txBox="1"/>
          <p:nvPr/>
        </p:nvSpPr>
        <p:spPr>
          <a:xfrm>
            <a:off x="890224" y="1009650"/>
            <a:ext cx="16507551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Table Of Contents</a:t>
            </a:r>
            <a:endParaRPr/>
          </a:p>
        </p:txBody>
      </p:sp>
      <p:grpSp>
        <p:nvGrpSpPr>
          <p:cNvPr id="82" name="Google Shape;82;p11"/>
          <p:cNvGrpSpPr/>
          <p:nvPr/>
        </p:nvGrpSpPr>
        <p:grpSpPr>
          <a:xfrm>
            <a:off x="-1618469" y="3217329"/>
            <a:ext cx="8566062" cy="8566062"/>
            <a:chOff x="0" y="0"/>
            <a:chExt cx="812800" cy="812800"/>
          </a:xfrm>
        </p:grpSpPr>
        <p:sp>
          <p:nvSpPr>
            <p:cNvPr id="83" name="Google Shape;83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F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" name="Google Shape;85;p11"/>
          <p:cNvSpPr/>
          <p:nvPr/>
        </p:nvSpPr>
        <p:spPr>
          <a:xfrm>
            <a:off x="290543" y="1928270"/>
            <a:ext cx="10972800" cy="8229600"/>
          </a:xfrm>
          <a:custGeom>
            <a:avLst/>
            <a:gdLst/>
            <a:ahLst/>
            <a:cxnLst/>
            <a:rect l="l" t="t" r="r" b="b"/>
            <a:pathLst>
              <a:path w="10972800" h="8229600" extrusionOk="0">
                <a:moveTo>
                  <a:pt x="0" y="0"/>
                </a:moveTo>
                <a:lnTo>
                  <a:pt x="10972800" y="0"/>
                </a:lnTo>
                <a:lnTo>
                  <a:pt x="109728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1"/>
          <p:cNvSpPr/>
          <p:nvPr/>
        </p:nvSpPr>
        <p:spPr>
          <a:xfrm>
            <a:off x="1028700" y="2184055"/>
            <a:ext cx="2066557" cy="206654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8578" t="-29533" r="-25045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" name="Google Shape;87;p11"/>
          <p:cNvGrpSpPr/>
          <p:nvPr/>
        </p:nvGrpSpPr>
        <p:grpSpPr>
          <a:xfrm>
            <a:off x="11059119" y="3217329"/>
            <a:ext cx="628058" cy="628058"/>
            <a:chOff x="0" y="0"/>
            <a:chExt cx="812800" cy="812800"/>
          </a:xfrm>
        </p:grpSpPr>
        <p:sp>
          <p:nvSpPr>
            <p:cNvPr id="88" name="Google Shape;88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B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1"/>
          <p:cNvGrpSpPr/>
          <p:nvPr/>
        </p:nvGrpSpPr>
        <p:grpSpPr>
          <a:xfrm>
            <a:off x="11059119" y="5428943"/>
            <a:ext cx="628058" cy="628058"/>
            <a:chOff x="0" y="0"/>
            <a:chExt cx="812800" cy="812800"/>
          </a:xfrm>
        </p:grpSpPr>
        <p:sp>
          <p:nvSpPr>
            <p:cNvPr id="91" name="Google Shape;91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B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1"/>
          <p:cNvSpPr/>
          <p:nvPr/>
        </p:nvSpPr>
        <p:spPr>
          <a:xfrm rot="8635619">
            <a:off x="15793516" y="-1115440"/>
            <a:ext cx="3480371" cy="3480356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24901" r="-24901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0" scaled="0"/>
        </a:gra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4"/>
          <p:cNvGrpSpPr/>
          <p:nvPr/>
        </p:nvGrpSpPr>
        <p:grpSpPr>
          <a:xfrm>
            <a:off x="8666536" y="-1079878"/>
            <a:ext cx="13086510" cy="13086510"/>
            <a:chOff x="0" y="0"/>
            <a:chExt cx="812800" cy="812800"/>
          </a:xfrm>
        </p:grpSpPr>
        <p:sp>
          <p:nvSpPr>
            <p:cNvPr id="130" name="Google Shape;130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F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14"/>
          <p:cNvSpPr txBox="1"/>
          <p:nvPr/>
        </p:nvSpPr>
        <p:spPr>
          <a:xfrm>
            <a:off x="1263933" y="357144"/>
            <a:ext cx="763770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ML with Me </a:t>
            </a:r>
            <a:endParaRPr dirty="0"/>
          </a:p>
        </p:txBody>
      </p:sp>
      <p:grpSp>
        <p:nvGrpSpPr>
          <p:cNvPr id="134" name="Google Shape;134;p14"/>
          <p:cNvGrpSpPr/>
          <p:nvPr/>
        </p:nvGrpSpPr>
        <p:grpSpPr>
          <a:xfrm>
            <a:off x="7257522" y="1296357"/>
            <a:ext cx="1064616" cy="1064616"/>
            <a:chOff x="0" y="0"/>
            <a:chExt cx="812800" cy="812800"/>
          </a:xfrm>
        </p:grpSpPr>
        <p:sp>
          <p:nvSpPr>
            <p:cNvPr id="135" name="Google Shape;135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B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14"/>
          <p:cNvSpPr/>
          <p:nvPr/>
        </p:nvSpPr>
        <p:spPr>
          <a:xfrm flipH="1">
            <a:off x="11938260" y="-36951"/>
            <a:ext cx="9630221" cy="10107685"/>
          </a:xfrm>
          <a:custGeom>
            <a:avLst/>
            <a:gdLst/>
            <a:ahLst/>
            <a:cxnLst/>
            <a:rect l="l" t="t" r="r" b="b"/>
            <a:pathLst>
              <a:path w="9630221" h="10107685" extrusionOk="0">
                <a:moveTo>
                  <a:pt x="9630221" y="0"/>
                </a:moveTo>
                <a:lnTo>
                  <a:pt x="0" y="0"/>
                </a:lnTo>
                <a:lnTo>
                  <a:pt x="0" y="10107685"/>
                </a:lnTo>
                <a:lnTo>
                  <a:pt x="9630221" y="10107685"/>
                </a:lnTo>
                <a:lnTo>
                  <a:pt x="9630221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4954"/>
            </a:stretch>
          </a:blipFill>
          <a:ln>
            <a:noFill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F389E7-AAB5-694C-1284-1F46A633D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98" y="1868564"/>
            <a:ext cx="14946811" cy="82021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0" scaled="0"/>
        </a:gra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6"/>
          <p:cNvGrpSpPr/>
          <p:nvPr/>
        </p:nvGrpSpPr>
        <p:grpSpPr>
          <a:xfrm>
            <a:off x="870313" y="567004"/>
            <a:ext cx="16645748" cy="9294084"/>
            <a:chOff x="0" y="0"/>
            <a:chExt cx="22194332" cy="12392113"/>
          </a:xfrm>
        </p:grpSpPr>
        <p:sp>
          <p:nvSpPr>
            <p:cNvPr id="175" name="Google Shape;175;p16"/>
            <p:cNvSpPr/>
            <p:nvPr/>
          </p:nvSpPr>
          <p:spPr>
            <a:xfrm>
              <a:off x="4028" y="12104970"/>
              <a:ext cx="22190303" cy="261743"/>
            </a:xfrm>
            <a:custGeom>
              <a:avLst/>
              <a:gdLst/>
              <a:ahLst/>
              <a:cxnLst/>
              <a:rect l="l" t="t" r="r" b="b"/>
              <a:pathLst>
                <a:path w="22190303" h="261743" extrusionOk="0">
                  <a:moveTo>
                    <a:pt x="0" y="0"/>
                  </a:moveTo>
                  <a:lnTo>
                    <a:pt x="22190303" y="0"/>
                  </a:lnTo>
                  <a:lnTo>
                    <a:pt x="22190303" y="261743"/>
                  </a:lnTo>
                  <a:lnTo>
                    <a:pt x="0" y="261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r="-524" b="-5575360"/>
              </a:stretch>
            </a:blipFill>
            <a:ln>
              <a:noFill/>
            </a:ln>
          </p:spPr>
        </p:sp>
        <p:sp>
          <p:nvSpPr>
            <p:cNvPr id="176" name="Google Shape;176;p16"/>
            <p:cNvSpPr/>
            <p:nvPr/>
          </p:nvSpPr>
          <p:spPr>
            <a:xfrm>
              <a:off x="0" y="77552"/>
              <a:ext cx="340312" cy="12301860"/>
            </a:xfrm>
            <a:custGeom>
              <a:avLst/>
              <a:gdLst/>
              <a:ahLst/>
              <a:cxnLst/>
              <a:rect l="l" t="t" r="r" b="b"/>
              <a:pathLst>
                <a:path w="340312" h="12301860" extrusionOk="0">
                  <a:moveTo>
                    <a:pt x="0" y="0"/>
                  </a:moveTo>
                  <a:lnTo>
                    <a:pt x="340312" y="0"/>
                  </a:lnTo>
                  <a:lnTo>
                    <a:pt x="340312" y="12301861"/>
                  </a:lnTo>
                  <a:lnTo>
                    <a:pt x="0" y="123018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r="-5322991"/>
              </a:stretch>
            </a:blipFill>
            <a:ln>
              <a:noFill/>
            </a:ln>
          </p:spPr>
        </p:sp>
        <p:sp>
          <p:nvSpPr>
            <p:cNvPr id="177" name="Google Shape;177;p16"/>
            <p:cNvSpPr/>
            <p:nvPr/>
          </p:nvSpPr>
          <p:spPr>
            <a:xfrm>
              <a:off x="4028" y="0"/>
              <a:ext cx="22190303" cy="261743"/>
            </a:xfrm>
            <a:custGeom>
              <a:avLst/>
              <a:gdLst/>
              <a:ahLst/>
              <a:cxnLst/>
              <a:rect l="l" t="t" r="r" b="b"/>
              <a:pathLst>
                <a:path w="22190303" h="261743" extrusionOk="0">
                  <a:moveTo>
                    <a:pt x="0" y="0"/>
                  </a:moveTo>
                  <a:lnTo>
                    <a:pt x="22190303" y="0"/>
                  </a:lnTo>
                  <a:lnTo>
                    <a:pt x="22190303" y="261743"/>
                  </a:lnTo>
                  <a:lnTo>
                    <a:pt x="0" y="261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r="-524" b="-5575360"/>
              </a:stretch>
            </a:blipFill>
            <a:ln>
              <a:noFill/>
            </a:ln>
          </p:spPr>
        </p:sp>
        <p:sp>
          <p:nvSpPr>
            <p:cNvPr id="178" name="Google Shape;178;p16"/>
            <p:cNvSpPr/>
            <p:nvPr/>
          </p:nvSpPr>
          <p:spPr>
            <a:xfrm rot="5400000">
              <a:off x="15859452" y="6057233"/>
              <a:ext cx="12379413" cy="290346"/>
            </a:xfrm>
            <a:custGeom>
              <a:avLst/>
              <a:gdLst/>
              <a:ahLst/>
              <a:cxnLst/>
              <a:rect l="l" t="t" r="r" b="b"/>
              <a:pathLst>
                <a:path w="12379413" h="290346" extrusionOk="0">
                  <a:moveTo>
                    <a:pt x="0" y="0"/>
                  </a:moveTo>
                  <a:lnTo>
                    <a:pt x="12379412" y="0"/>
                  </a:lnTo>
                  <a:lnTo>
                    <a:pt x="12379412" y="290346"/>
                  </a:lnTo>
                  <a:lnTo>
                    <a:pt x="0" y="2903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r="-524" b="-2755511"/>
              </a:stretch>
            </a:blipFill>
            <a:ln>
              <a:noFill/>
            </a:ln>
          </p:spPr>
        </p:sp>
      </p:grpSp>
      <p:sp>
        <p:nvSpPr>
          <p:cNvPr id="179" name="Google Shape;179;p16"/>
          <p:cNvSpPr/>
          <p:nvPr/>
        </p:nvSpPr>
        <p:spPr>
          <a:xfrm>
            <a:off x="9144000" y="567004"/>
            <a:ext cx="6206804" cy="620677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8578" t="-29533" r="-25045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1648295" y="2032068"/>
            <a:ext cx="10797759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What is Theoretical Framework?</a:t>
            </a:r>
            <a:endParaRPr sz="2800" dirty="0"/>
          </a:p>
        </p:txBody>
      </p:sp>
      <p:grpSp>
        <p:nvGrpSpPr>
          <p:cNvPr id="181" name="Google Shape;181;p16"/>
          <p:cNvGrpSpPr/>
          <p:nvPr/>
        </p:nvGrpSpPr>
        <p:grpSpPr>
          <a:xfrm>
            <a:off x="14829141" y="1642889"/>
            <a:ext cx="1722163" cy="1722163"/>
            <a:chOff x="0" y="0"/>
            <a:chExt cx="812800" cy="812800"/>
          </a:xfrm>
        </p:grpSpPr>
        <p:sp>
          <p:nvSpPr>
            <p:cNvPr id="182" name="Google Shape;182;p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F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16"/>
          <p:cNvSpPr/>
          <p:nvPr/>
        </p:nvSpPr>
        <p:spPr>
          <a:xfrm>
            <a:off x="7150034" y="5866181"/>
            <a:ext cx="2260569" cy="2260560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26773" r="-26772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6"/>
          <p:cNvSpPr/>
          <p:nvPr/>
        </p:nvSpPr>
        <p:spPr>
          <a:xfrm>
            <a:off x="7353329" y="1464960"/>
            <a:ext cx="9586596" cy="9586596"/>
          </a:xfrm>
          <a:custGeom>
            <a:avLst/>
            <a:gdLst/>
            <a:ahLst/>
            <a:cxnLst/>
            <a:rect l="l" t="t" r="r" b="b"/>
            <a:pathLst>
              <a:path w="9586596" h="9586596" extrusionOk="0">
                <a:moveTo>
                  <a:pt x="0" y="0"/>
                </a:moveTo>
                <a:lnTo>
                  <a:pt x="9586596" y="0"/>
                </a:lnTo>
                <a:lnTo>
                  <a:pt x="9586596" y="9586597"/>
                </a:lnTo>
                <a:lnTo>
                  <a:pt x="0" y="95865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6" name="Google Shape;186;p16"/>
          <p:cNvSpPr txBox="1"/>
          <p:nvPr/>
        </p:nvSpPr>
        <p:spPr>
          <a:xfrm>
            <a:off x="1483923" y="3050085"/>
            <a:ext cx="7404842" cy="292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A theoretical framework is </a:t>
            </a:r>
            <a:r>
              <a:rPr lang="en-US" sz="3800" i="1" dirty="0"/>
              <a:t>a foundational review of existing theories</a:t>
            </a:r>
            <a:r>
              <a:rPr lang="en-US" sz="3800" dirty="0"/>
              <a:t> that serves as a roadmap for developing the arguments you will use in your own work.</a:t>
            </a:r>
            <a:endParaRPr sz="38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F6C21D2-8161-BE5D-120E-55BF237377E2}"/>
              </a:ext>
            </a:extLst>
          </p:cNvPr>
          <p:cNvSpPr/>
          <p:nvPr/>
        </p:nvSpPr>
        <p:spPr>
          <a:xfrm>
            <a:off x="1209833" y="6380183"/>
            <a:ext cx="2418569" cy="20560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9FF03F-447C-7260-0E91-AA9347F13EDE}"/>
              </a:ext>
            </a:extLst>
          </p:cNvPr>
          <p:cNvSpPr/>
          <p:nvPr/>
        </p:nvSpPr>
        <p:spPr>
          <a:xfrm>
            <a:off x="4828902" y="7492952"/>
            <a:ext cx="2440140" cy="20560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0" scaled="0"/>
        </a:gra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17"/>
          <p:cNvGrpSpPr/>
          <p:nvPr/>
        </p:nvGrpSpPr>
        <p:grpSpPr>
          <a:xfrm>
            <a:off x="10246919" y="-1629451"/>
            <a:ext cx="11281767" cy="12213989"/>
            <a:chOff x="0" y="0"/>
            <a:chExt cx="750764" cy="812800"/>
          </a:xfrm>
        </p:grpSpPr>
        <p:sp>
          <p:nvSpPr>
            <p:cNvPr id="192" name="Google Shape;192;p17"/>
            <p:cNvSpPr/>
            <p:nvPr/>
          </p:nvSpPr>
          <p:spPr>
            <a:xfrm>
              <a:off x="0" y="0"/>
              <a:ext cx="750764" cy="812800"/>
            </a:xfrm>
            <a:custGeom>
              <a:avLst/>
              <a:gdLst/>
              <a:ahLst/>
              <a:cxnLst/>
              <a:rect l="l" t="t" r="r" b="b"/>
              <a:pathLst>
                <a:path w="750764" h="812800" extrusionOk="0">
                  <a:moveTo>
                    <a:pt x="375382" y="0"/>
                  </a:moveTo>
                  <a:cubicBezTo>
                    <a:pt x="168064" y="0"/>
                    <a:pt x="0" y="181951"/>
                    <a:pt x="0" y="406400"/>
                  </a:cubicBezTo>
                  <a:cubicBezTo>
                    <a:pt x="0" y="630849"/>
                    <a:pt x="168064" y="812800"/>
                    <a:pt x="375382" y="812800"/>
                  </a:cubicBezTo>
                  <a:cubicBezTo>
                    <a:pt x="582700" y="812800"/>
                    <a:pt x="750764" y="630849"/>
                    <a:pt x="750764" y="406400"/>
                  </a:cubicBezTo>
                  <a:cubicBezTo>
                    <a:pt x="750764" y="181951"/>
                    <a:pt x="582700" y="0"/>
                    <a:pt x="375382" y="0"/>
                  </a:cubicBezTo>
                  <a:close/>
                </a:path>
              </a:pathLst>
            </a:custGeom>
            <a:solidFill>
              <a:srgbClr val="CDF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7"/>
          <p:cNvSpPr/>
          <p:nvPr/>
        </p:nvSpPr>
        <p:spPr>
          <a:xfrm flipH="1">
            <a:off x="9355515" y="177052"/>
            <a:ext cx="10732861" cy="12579826"/>
          </a:xfrm>
          <a:custGeom>
            <a:avLst/>
            <a:gdLst/>
            <a:ahLst/>
            <a:cxnLst/>
            <a:rect l="l" t="t" r="r" b="b"/>
            <a:pathLst>
              <a:path w="10732861" h="12579826" extrusionOk="0">
                <a:moveTo>
                  <a:pt x="10732861" y="0"/>
                </a:moveTo>
                <a:lnTo>
                  <a:pt x="0" y="0"/>
                </a:lnTo>
                <a:lnTo>
                  <a:pt x="0" y="12579826"/>
                </a:lnTo>
                <a:lnTo>
                  <a:pt x="10732861" y="12579826"/>
                </a:lnTo>
                <a:lnTo>
                  <a:pt x="10732861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7205"/>
            </a:stretch>
          </a:blipFill>
          <a:ln>
            <a:noFill/>
          </a:ln>
        </p:spPr>
      </p:sp>
      <p:sp>
        <p:nvSpPr>
          <p:cNvPr id="195" name="Google Shape;195;p17"/>
          <p:cNvSpPr txBox="1"/>
          <p:nvPr/>
        </p:nvSpPr>
        <p:spPr>
          <a:xfrm>
            <a:off x="6264254" y="3813511"/>
            <a:ext cx="4032753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Optimization Theory</a:t>
            </a:r>
            <a:endParaRPr dirty="0"/>
          </a:p>
        </p:txBody>
      </p:sp>
      <p:grpSp>
        <p:nvGrpSpPr>
          <p:cNvPr id="196" name="Google Shape;196;p17"/>
          <p:cNvGrpSpPr/>
          <p:nvPr/>
        </p:nvGrpSpPr>
        <p:grpSpPr>
          <a:xfrm>
            <a:off x="1951228" y="3922588"/>
            <a:ext cx="4089532" cy="4273155"/>
            <a:chOff x="0" y="0"/>
            <a:chExt cx="5452710" cy="5566744"/>
          </a:xfrm>
        </p:grpSpPr>
        <p:sp>
          <p:nvSpPr>
            <p:cNvPr id="197" name="Google Shape;197;p17"/>
            <p:cNvSpPr txBox="1"/>
            <p:nvPr/>
          </p:nvSpPr>
          <p:spPr>
            <a:xfrm>
              <a:off x="0" y="0"/>
              <a:ext cx="5161003" cy="15758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i="0" u="none" strike="noStrike" cap="none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Statistical Learning Theory</a:t>
              </a:r>
              <a:endParaRPr dirty="0"/>
            </a:p>
          </p:txBody>
        </p:sp>
        <p:sp>
          <p:nvSpPr>
            <p:cNvPr id="198" name="Google Shape;198;p17"/>
            <p:cNvSpPr txBox="1"/>
            <p:nvPr/>
          </p:nvSpPr>
          <p:spPr>
            <a:xfrm>
              <a:off x="0" y="3990928"/>
              <a:ext cx="5452710" cy="15758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i="0" u="none" strike="noStrike" cap="none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Information Theory</a:t>
              </a:r>
              <a:endParaRPr dirty="0"/>
            </a:p>
          </p:txBody>
        </p:sp>
      </p:grpSp>
      <p:grpSp>
        <p:nvGrpSpPr>
          <p:cNvPr id="201" name="Google Shape;201;p17"/>
          <p:cNvGrpSpPr/>
          <p:nvPr/>
        </p:nvGrpSpPr>
        <p:grpSpPr>
          <a:xfrm>
            <a:off x="5412701" y="3849486"/>
            <a:ext cx="628058" cy="628058"/>
            <a:chOff x="0" y="0"/>
            <a:chExt cx="812800" cy="812800"/>
          </a:xfrm>
        </p:grpSpPr>
        <p:sp>
          <p:nvSpPr>
            <p:cNvPr id="202" name="Google Shape;202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B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17"/>
          <p:cNvGrpSpPr/>
          <p:nvPr/>
        </p:nvGrpSpPr>
        <p:grpSpPr>
          <a:xfrm>
            <a:off x="5412701" y="6915785"/>
            <a:ext cx="628058" cy="628058"/>
            <a:chOff x="0" y="0"/>
            <a:chExt cx="812800" cy="812800"/>
          </a:xfrm>
        </p:grpSpPr>
        <p:sp>
          <p:nvSpPr>
            <p:cNvPr id="205" name="Google Shape;205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B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17"/>
          <p:cNvGrpSpPr/>
          <p:nvPr/>
        </p:nvGrpSpPr>
        <p:grpSpPr>
          <a:xfrm>
            <a:off x="1181100" y="3849486"/>
            <a:ext cx="628058" cy="628058"/>
            <a:chOff x="0" y="0"/>
            <a:chExt cx="812800" cy="812800"/>
          </a:xfrm>
        </p:grpSpPr>
        <p:sp>
          <p:nvSpPr>
            <p:cNvPr id="208" name="Google Shape;208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B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17"/>
          <p:cNvGrpSpPr/>
          <p:nvPr/>
        </p:nvGrpSpPr>
        <p:grpSpPr>
          <a:xfrm>
            <a:off x="1181100" y="6915785"/>
            <a:ext cx="628058" cy="628058"/>
            <a:chOff x="0" y="0"/>
            <a:chExt cx="812800" cy="812800"/>
          </a:xfrm>
        </p:grpSpPr>
        <p:sp>
          <p:nvSpPr>
            <p:cNvPr id="211" name="Google Shape;211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B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17"/>
          <p:cNvSpPr/>
          <p:nvPr/>
        </p:nvSpPr>
        <p:spPr>
          <a:xfrm>
            <a:off x="9641208" y="2578820"/>
            <a:ext cx="1584702" cy="1584695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8578" t="-29533" r="-25045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847736" y="329672"/>
            <a:ext cx="10732861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Theoretical Framework for ML</a:t>
            </a:r>
            <a:endParaRPr dirty="0"/>
          </a:p>
        </p:txBody>
      </p:sp>
      <p:sp>
        <p:nvSpPr>
          <p:cNvPr id="215" name="Google Shape;215;p17"/>
          <p:cNvSpPr txBox="1"/>
          <p:nvPr/>
        </p:nvSpPr>
        <p:spPr>
          <a:xfrm>
            <a:off x="6266328" y="6937865"/>
            <a:ext cx="4032753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Algorithmic Computational Complexity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5400000" scaled="0"/>
        </a:gra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73CDE-E456-9B84-B1D0-F47E3EF94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5040" y="2557600"/>
            <a:ext cx="15910559" cy="634256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Framing the problem </a:t>
            </a:r>
          </a:p>
          <a:p>
            <a:pPr>
              <a:lnSpc>
                <a:spcPct val="150000"/>
              </a:lnSpc>
            </a:pPr>
            <a:r>
              <a:rPr lang="en-US" dirty="0"/>
              <a:t>Data Understanding </a:t>
            </a:r>
          </a:p>
          <a:p>
            <a:pPr>
              <a:lnSpc>
                <a:spcPct val="150000"/>
              </a:lnSpc>
            </a:pPr>
            <a:r>
              <a:rPr lang="en-US" dirty="0"/>
              <a:t>Data Cleaning</a:t>
            </a:r>
          </a:p>
          <a:p>
            <a:pPr>
              <a:lnSpc>
                <a:spcPct val="150000"/>
              </a:lnSpc>
            </a:pPr>
            <a:r>
              <a:rPr lang="en-US" dirty="0"/>
              <a:t>Data selection and preparation </a:t>
            </a:r>
          </a:p>
          <a:p>
            <a:pPr>
              <a:lnSpc>
                <a:spcPct val="150000"/>
              </a:lnSpc>
            </a:pPr>
            <a:r>
              <a:rPr lang="en-US" dirty="0"/>
              <a:t>Model evaluation </a:t>
            </a:r>
          </a:p>
          <a:p>
            <a:pPr>
              <a:lnSpc>
                <a:spcPct val="150000"/>
              </a:lnSpc>
            </a:pPr>
            <a:r>
              <a:rPr lang="en-US" dirty="0"/>
              <a:t>Configuration of the model </a:t>
            </a:r>
          </a:p>
          <a:p>
            <a:pPr>
              <a:lnSpc>
                <a:spcPct val="150000"/>
              </a:lnSpc>
            </a:pPr>
            <a:r>
              <a:rPr lang="en-US" dirty="0"/>
              <a:t>Model selection and presentation </a:t>
            </a:r>
          </a:p>
          <a:p>
            <a:pPr>
              <a:lnSpc>
                <a:spcPct val="150000"/>
              </a:lnSpc>
            </a:pPr>
            <a:r>
              <a:rPr lang="en-US" dirty="0"/>
              <a:t>Model predictions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579EF-0A24-3BB5-5191-4895BB095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1156800"/>
            <a:ext cx="17028160" cy="1470000"/>
          </a:xfrm>
        </p:spPr>
        <p:txBody>
          <a:bodyPr/>
          <a:lstStyle/>
          <a:p>
            <a:r>
              <a:rPr lang="en-US" sz="4400" b="0" i="0" u="none" strike="noStrike" cap="none" dirty="0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Statistical Learning Theory</a:t>
            </a:r>
            <a:br>
              <a:rPr lang="en-US" sz="4400" dirty="0"/>
            </a:br>
            <a:endParaRPr lang="en-US" dirty="0"/>
          </a:p>
        </p:txBody>
      </p:sp>
      <p:sp>
        <p:nvSpPr>
          <p:cNvPr id="4" name="Google Shape;137;p14">
            <a:extLst>
              <a:ext uri="{FF2B5EF4-FFF2-40B4-BE49-F238E27FC236}">
                <a16:creationId xmlns:a16="http://schemas.microsoft.com/office/drawing/2014/main" id="{CB3A34A0-477B-E898-0AAA-6C7E457C4A86}"/>
              </a:ext>
            </a:extLst>
          </p:cNvPr>
          <p:cNvSpPr/>
          <p:nvPr/>
        </p:nvSpPr>
        <p:spPr>
          <a:xfrm flipH="1">
            <a:off x="11013439" y="1910080"/>
            <a:ext cx="8279200" cy="8376920"/>
          </a:xfrm>
          <a:custGeom>
            <a:avLst/>
            <a:gdLst/>
            <a:ahLst/>
            <a:cxnLst/>
            <a:rect l="l" t="t" r="r" b="b"/>
            <a:pathLst>
              <a:path w="9630221" h="10107685" extrusionOk="0">
                <a:moveTo>
                  <a:pt x="9630221" y="0"/>
                </a:moveTo>
                <a:lnTo>
                  <a:pt x="0" y="0"/>
                </a:lnTo>
                <a:lnTo>
                  <a:pt x="0" y="10107685"/>
                </a:lnTo>
                <a:lnTo>
                  <a:pt x="9630221" y="10107685"/>
                </a:lnTo>
                <a:lnTo>
                  <a:pt x="9630221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4954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5400000" scaled="0"/>
        </a:gra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73CDE-E456-9B84-B1D0-F47E3EF94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5040" y="2557600"/>
            <a:ext cx="15910559" cy="63425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Optimization Theory in machine learning are mathematical techniques used to adjust a model's parameters to minimize errors and improve accuracy.  </a:t>
            </a:r>
          </a:p>
          <a:p>
            <a:pPr>
              <a:lnSpc>
                <a:spcPct val="150000"/>
              </a:lnSpc>
            </a:pPr>
            <a:r>
              <a:rPr lang="en-US" dirty="0"/>
              <a:t>This can help models learn from data by finding the best possible solution through iterative updates.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579EF-0A24-3BB5-5191-4895BB095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1156800"/>
            <a:ext cx="17028160" cy="1470000"/>
          </a:xfrm>
        </p:spPr>
        <p:txBody>
          <a:bodyPr/>
          <a:lstStyle/>
          <a:p>
            <a:r>
              <a:rPr lang="en-US" sz="4400" b="0" i="0" u="none" strike="noStrike" cap="none" dirty="0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Optimization Theory in Machine Learning </a:t>
            </a:r>
            <a:br>
              <a:rPr lang="en-US" sz="4400" dirty="0"/>
            </a:br>
            <a:endParaRPr lang="en-US" dirty="0"/>
          </a:p>
        </p:txBody>
      </p:sp>
      <p:sp>
        <p:nvSpPr>
          <p:cNvPr id="4" name="Google Shape;137;p14">
            <a:extLst>
              <a:ext uri="{FF2B5EF4-FFF2-40B4-BE49-F238E27FC236}">
                <a16:creationId xmlns:a16="http://schemas.microsoft.com/office/drawing/2014/main" id="{CB3A34A0-477B-E898-0AAA-6C7E457C4A86}"/>
              </a:ext>
            </a:extLst>
          </p:cNvPr>
          <p:cNvSpPr/>
          <p:nvPr/>
        </p:nvSpPr>
        <p:spPr>
          <a:xfrm flipH="1">
            <a:off x="13472159" y="5323840"/>
            <a:ext cx="5271837" cy="4963160"/>
          </a:xfrm>
          <a:custGeom>
            <a:avLst/>
            <a:gdLst/>
            <a:ahLst/>
            <a:cxnLst/>
            <a:rect l="l" t="t" r="r" b="b"/>
            <a:pathLst>
              <a:path w="9630221" h="10107685" extrusionOk="0">
                <a:moveTo>
                  <a:pt x="9630221" y="0"/>
                </a:moveTo>
                <a:lnTo>
                  <a:pt x="0" y="0"/>
                </a:lnTo>
                <a:lnTo>
                  <a:pt x="0" y="10107685"/>
                </a:lnTo>
                <a:lnTo>
                  <a:pt x="9630221" y="10107685"/>
                </a:lnTo>
                <a:lnTo>
                  <a:pt x="9630221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4954"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19795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5400000" scaled="0"/>
        </a:gra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/>
          <p:cNvSpPr txBox="1"/>
          <p:nvPr/>
        </p:nvSpPr>
        <p:spPr>
          <a:xfrm>
            <a:off x="1028700" y="1009650"/>
            <a:ext cx="162306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Information theory and Data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B4A9BE-688D-E5C3-31B0-F6F1A3749EC0}"/>
              </a:ext>
            </a:extLst>
          </p:cNvPr>
          <p:cNvSpPr txBox="1"/>
          <p:nvPr/>
        </p:nvSpPr>
        <p:spPr>
          <a:xfrm>
            <a:off x="1788160" y="2844800"/>
            <a:ext cx="13594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Information theory is a theory of communication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C7BD2D-181C-397F-BF18-DD9C818DB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501" y="3779391"/>
            <a:ext cx="8842339" cy="29892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553557-2880-9F53-EA0B-C78B33646D06}"/>
              </a:ext>
            </a:extLst>
          </p:cNvPr>
          <p:cNvSpPr txBox="1"/>
          <p:nvPr/>
        </p:nvSpPr>
        <p:spPr>
          <a:xfrm>
            <a:off x="1788160" y="6815153"/>
            <a:ext cx="13594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Information theory is a theory of communication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B1CCD2-9C17-A05E-9718-CCA229310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501" y="7788510"/>
            <a:ext cx="9179157" cy="23041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AE3C9-1E20-869F-1B12-23B406ED2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6720" y="2557600"/>
            <a:ext cx="14183359" cy="620032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b="1" dirty="0"/>
              <a:t>Entropy</a:t>
            </a:r>
            <a:r>
              <a:rPr lang="en-US" dirty="0"/>
              <a:t> measures the uncertainty or unpredictability of a random variable. In machine learning, entropy quantifies the amount of information required to describe a dataset.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Mutual information</a:t>
            </a:r>
            <a:r>
              <a:rPr lang="en-US" dirty="0"/>
              <a:t> measures the amount of information obtained about one random variable through another random variable. It quantifies the dependency between variables.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1288B1-2187-C0A6-871F-BC4ED4EA1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1156800"/>
            <a:ext cx="13331665" cy="1470000"/>
          </a:xfrm>
        </p:spPr>
        <p:txBody>
          <a:bodyPr/>
          <a:lstStyle/>
          <a:p>
            <a:r>
              <a:rPr lang="en-US" dirty="0"/>
              <a:t>Key Concepts of Information Theory </a:t>
            </a:r>
          </a:p>
        </p:txBody>
      </p:sp>
    </p:spTree>
    <p:extLst>
      <p:ext uri="{BB962C8B-B14F-4D97-AF65-F5344CB8AC3E}">
        <p14:creationId xmlns:p14="http://schemas.microsoft.com/office/powerpoint/2010/main" val="3864316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E0C469-D4C0-B9A3-1CF4-507FDDEEE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6560" y="2453730"/>
            <a:ext cx="15524480" cy="7035710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US" dirty="0"/>
              <a:t>Algorithmic computational complexity is the measure of the resources, typically time and space, an algorithm requires relative to its input size. </a:t>
            </a:r>
          </a:p>
          <a:p>
            <a:pPr>
              <a:lnSpc>
                <a:spcPct val="200000"/>
              </a:lnSpc>
            </a:pPr>
            <a:r>
              <a:rPr lang="en-US" dirty="0"/>
              <a:t>It helps analyze and compare the efficiency of algorithms, focusing on how their performance scales with increasing input. </a:t>
            </a:r>
          </a:p>
          <a:p>
            <a:pPr>
              <a:lnSpc>
                <a:spcPct val="200000"/>
              </a:lnSpc>
            </a:pPr>
            <a:r>
              <a:rPr lang="en-US" dirty="0"/>
              <a:t>This is often expressed using Big-O notation to describe the upper bound or "worst-case" performance, as seen in functions like \(O(n)\) (linear) or \(O(n^{2})\) (quadratic)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64E687-B006-087F-B772-76DB4D009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9440" y="1156800"/>
            <a:ext cx="12437585" cy="1470000"/>
          </a:xfrm>
        </p:spPr>
        <p:txBody>
          <a:bodyPr/>
          <a:lstStyle/>
          <a:p>
            <a:r>
              <a:rPr lang="en-US" dirty="0"/>
              <a:t>Algorithmic Computational Complexity </a:t>
            </a:r>
          </a:p>
        </p:txBody>
      </p:sp>
    </p:spTree>
    <p:extLst>
      <p:ext uri="{BB962C8B-B14F-4D97-AF65-F5344CB8AC3E}">
        <p14:creationId xmlns:p14="http://schemas.microsoft.com/office/powerpoint/2010/main" val="352111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5400000" scaled="0"/>
        </a:gra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oogle Shape;497;p30"/>
          <p:cNvGrpSpPr/>
          <p:nvPr/>
        </p:nvGrpSpPr>
        <p:grpSpPr>
          <a:xfrm>
            <a:off x="870313" y="567004"/>
            <a:ext cx="16645748" cy="9294084"/>
            <a:chOff x="0" y="0"/>
            <a:chExt cx="22194332" cy="12392113"/>
          </a:xfrm>
        </p:grpSpPr>
        <p:sp>
          <p:nvSpPr>
            <p:cNvPr id="498" name="Google Shape;498;p30"/>
            <p:cNvSpPr/>
            <p:nvPr/>
          </p:nvSpPr>
          <p:spPr>
            <a:xfrm>
              <a:off x="4028" y="12104970"/>
              <a:ext cx="22190303" cy="261743"/>
            </a:xfrm>
            <a:custGeom>
              <a:avLst/>
              <a:gdLst/>
              <a:ahLst/>
              <a:cxnLst/>
              <a:rect l="l" t="t" r="r" b="b"/>
              <a:pathLst>
                <a:path w="22190303" h="261743" extrusionOk="0">
                  <a:moveTo>
                    <a:pt x="0" y="0"/>
                  </a:moveTo>
                  <a:lnTo>
                    <a:pt x="22190303" y="0"/>
                  </a:lnTo>
                  <a:lnTo>
                    <a:pt x="22190303" y="261743"/>
                  </a:lnTo>
                  <a:lnTo>
                    <a:pt x="0" y="261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r="-524" b="-5575360"/>
              </a:stretch>
            </a:blipFill>
            <a:ln>
              <a:noFill/>
            </a:ln>
          </p:spPr>
        </p:sp>
        <p:sp>
          <p:nvSpPr>
            <p:cNvPr id="499" name="Google Shape;499;p30"/>
            <p:cNvSpPr/>
            <p:nvPr/>
          </p:nvSpPr>
          <p:spPr>
            <a:xfrm>
              <a:off x="0" y="77552"/>
              <a:ext cx="340312" cy="12301860"/>
            </a:xfrm>
            <a:custGeom>
              <a:avLst/>
              <a:gdLst/>
              <a:ahLst/>
              <a:cxnLst/>
              <a:rect l="l" t="t" r="r" b="b"/>
              <a:pathLst>
                <a:path w="340312" h="12301860" extrusionOk="0">
                  <a:moveTo>
                    <a:pt x="0" y="0"/>
                  </a:moveTo>
                  <a:lnTo>
                    <a:pt x="340312" y="0"/>
                  </a:lnTo>
                  <a:lnTo>
                    <a:pt x="340312" y="12301861"/>
                  </a:lnTo>
                  <a:lnTo>
                    <a:pt x="0" y="123018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r="-5322991"/>
              </a:stretch>
            </a:blipFill>
            <a:ln>
              <a:noFill/>
            </a:ln>
          </p:spPr>
        </p:sp>
        <p:sp>
          <p:nvSpPr>
            <p:cNvPr id="500" name="Google Shape;500;p30"/>
            <p:cNvSpPr/>
            <p:nvPr/>
          </p:nvSpPr>
          <p:spPr>
            <a:xfrm>
              <a:off x="4028" y="0"/>
              <a:ext cx="22190303" cy="261743"/>
            </a:xfrm>
            <a:custGeom>
              <a:avLst/>
              <a:gdLst/>
              <a:ahLst/>
              <a:cxnLst/>
              <a:rect l="l" t="t" r="r" b="b"/>
              <a:pathLst>
                <a:path w="22190303" h="261743" extrusionOk="0">
                  <a:moveTo>
                    <a:pt x="0" y="0"/>
                  </a:moveTo>
                  <a:lnTo>
                    <a:pt x="22190303" y="0"/>
                  </a:lnTo>
                  <a:lnTo>
                    <a:pt x="22190303" y="261743"/>
                  </a:lnTo>
                  <a:lnTo>
                    <a:pt x="0" y="261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r="-524" b="-5575360"/>
              </a:stretch>
            </a:blipFill>
            <a:ln>
              <a:noFill/>
            </a:ln>
          </p:spPr>
        </p:sp>
        <p:sp>
          <p:nvSpPr>
            <p:cNvPr id="501" name="Google Shape;501;p30"/>
            <p:cNvSpPr/>
            <p:nvPr/>
          </p:nvSpPr>
          <p:spPr>
            <a:xfrm rot="5400000">
              <a:off x="15859452" y="6057233"/>
              <a:ext cx="12379413" cy="290346"/>
            </a:xfrm>
            <a:custGeom>
              <a:avLst/>
              <a:gdLst/>
              <a:ahLst/>
              <a:cxnLst/>
              <a:rect l="l" t="t" r="r" b="b"/>
              <a:pathLst>
                <a:path w="12379413" h="290346" extrusionOk="0">
                  <a:moveTo>
                    <a:pt x="0" y="0"/>
                  </a:moveTo>
                  <a:lnTo>
                    <a:pt x="12379412" y="0"/>
                  </a:lnTo>
                  <a:lnTo>
                    <a:pt x="12379412" y="290346"/>
                  </a:lnTo>
                  <a:lnTo>
                    <a:pt x="0" y="2903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r="-524" b="-2755511"/>
              </a:stretch>
            </a:blipFill>
            <a:ln>
              <a:noFill/>
            </a:ln>
          </p:spPr>
        </p:sp>
      </p:grpSp>
      <p:sp>
        <p:nvSpPr>
          <p:cNvPr id="503" name="Google Shape;503;p30"/>
          <p:cNvSpPr txBox="1"/>
          <p:nvPr/>
        </p:nvSpPr>
        <p:spPr>
          <a:xfrm>
            <a:off x="3238810" y="4767221"/>
            <a:ext cx="11810379" cy="86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4A68D-0BE4-2C62-AAD5-436029900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41601" y="2768550"/>
            <a:ext cx="14209566" cy="4526100"/>
          </a:xfrm>
        </p:spPr>
        <p:txBody>
          <a:bodyPr>
            <a:normAutofit/>
          </a:bodyPr>
          <a:lstStyle/>
          <a:p>
            <a:r>
              <a:rPr lang="en-US" sz="5400" dirty="0"/>
              <a:t>“Theory is what turns data into knowledge”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79879-9555-AC87-69BC-1CC73FA9C9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BF3BA2-6816-E5BF-A994-45162A54E8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99723B7-5C38-C1C7-436D-B10DDFCAFD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2480" y="3394119"/>
            <a:ext cx="1664208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Shalev-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Shwartz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S., &amp; Ben-David, S. (2014).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Machine Learning: From Theory to Algorithms.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Cambridge University Press.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A foundational book covering learning theory, PAC learning, and generalization.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Goodfellow, I.,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Bengio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Y., &amp; Courville, A. (2016).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MIT Press.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Explains deep learning models and the theoretical principles behind 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Jordan, M. I., &amp; Mitchell, T. M. (2015).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“Machine Learning: Trends, Perspectives, and Prospects.”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Science,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349(6245), 255–260.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Discusses theoretical and empirical research trends in ML.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Bishop, C. M. (2006).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 Recognition and Machine Learning.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Springer.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Covers probabilistic and information-theoretic frameworks in ML.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Vapnik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V. N. (1998).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 Learning Theory.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Wiley.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Introduces the theoretical foundation of modern ML through statistical learning theory and VC dimension.</a:t>
            </a:r>
          </a:p>
        </p:txBody>
      </p:sp>
    </p:spTree>
    <p:extLst>
      <p:ext uri="{BB962C8B-B14F-4D97-AF65-F5344CB8AC3E}">
        <p14:creationId xmlns:p14="http://schemas.microsoft.com/office/powerpoint/2010/main" val="447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5400000" scaled="0"/>
        </a:gra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28"/>
          <p:cNvGrpSpPr/>
          <p:nvPr/>
        </p:nvGrpSpPr>
        <p:grpSpPr>
          <a:xfrm>
            <a:off x="870313" y="567004"/>
            <a:ext cx="16645748" cy="9294084"/>
            <a:chOff x="0" y="0"/>
            <a:chExt cx="22194332" cy="12392113"/>
          </a:xfrm>
        </p:grpSpPr>
        <p:sp>
          <p:nvSpPr>
            <p:cNvPr id="427" name="Google Shape;427;p28"/>
            <p:cNvSpPr/>
            <p:nvPr/>
          </p:nvSpPr>
          <p:spPr>
            <a:xfrm>
              <a:off x="4028" y="12104970"/>
              <a:ext cx="22190303" cy="261743"/>
            </a:xfrm>
            <a:custGeom>
              <a:avLst/>
              <a:gdLst/>
              <a:ahLst/>
              <a:cxnLst/>
              <a:rect l="l" t="t" r="r" b="b"/>
              <a:pathLst>
                <a:path w="22190303" h="261743" extrusionOk="0">
                  <a:moveTo>
                    <a:pt x="0" y="0"/>
                  </a:moveTo>
                  <a:lnTo>
                    <a:pt x="22190303" y="0"/>
                  </a:lnTo>
                  <a:lnTo>
                    <a:pt x="22190303" y="261743"/>
                  </a:lnTo>
                  <a:lnTo>
                    <a:pt x="0" y="261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r="-524" b="-5575360"/>
              </a:stretch>
            </a:blipFill>
            <a:ln>
              <a:noFill/>
            </a:ln>
          </p:spPr>
        </p:sp>
        <p:sp>
          <p:nvSpPr>
            <p:cNvPr id="428" name="Google Shape;428;p28"/>
            <p:cNvSpPr/>
            <p:nvPr/>
          </p:nvSpPr>
          <p:spPr>
            <a:xfrm>
              <a:off x="0" y="77552"/>
              <a:ext cx="340312" cy="12301860"/>
            </a:xfrm>
            <a:custGeom>
              <a:avLst/>
              <a:gdLst/>
              <a:ahLst/>
              <a:cxnLst/>
              <a:rect l="l" t="t" r="r" b="b"/>
              <a:pathLst>
                <a:path w="340312" h="12301860" extrusionOk="0">
                  <a:moveTo>
                    <a:pt x="0" y="0"/>
                  </a:moveTo>
                  <a:lnTo>
                    <a:pt x="340312" y="0"/>
                  </a:lnTo>
                  <a:lnTo>
                    <a:pt x="340312" y="12301861"/>
                  </a:lnTo>
                  <a:lnTo>
                    <a:pt x="0" y="123018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r="-5322991"/>
              </a:stretch>
            </a:blipFill>
            <a:ln>
              <a:noFill/>
            </a:ln>
          </p:spPr>
        </p:sp>
        <p:sp>
          <p:nvSpPr>
            <p:cNvPr id="429" name="Google Shape;429;p28"/>
            <p:cNvSpPr/>
            <p:nvPr/>
          </p:nvSpPr>
          <p:spPr>
            <a:xfrm>
              <a:off x="4028" y="0"/>
              <a:ext cx="22190303" cy="261743"/>
            </a:xfrm>
            <a:custGeom>
              <a:avLst/>
              <a:gdLst/>
              <a:ahLst/>
              <a:cxnLst/>
              <a:rect l="l" t="t" r="r" b="b"/>
              <a:pathLst>
                <a:path w="22190303" h="261743" extrusionOk="0">
                  <a:moveTo>
                    <a:pt x="0" y="0"/>
                  </a:moveTo>
                  <a:lnTo>
                    <a:pt x="22190303" y="0"/>
                  </a:lnTo>
                  <a:lnTo>
                    <a:pt x="22190303" y="261743"/>
                  </a:lnTo>
                  <a:lnTo>
                    <a:pt x="0" y="261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r="-524" b="-5575360"/>
              </a:stretch>
            </a:blipFill>
            <a:ln>
              <a:noFill/>
            </a:ln>
          </p:spPr>
        </p:sp>
        <p:sp>
          <p:nvSpPr>
            <p:cNvPr id="430" name="Google Shape;430;p28"/>
            <p:cNvSpPr/>
            <p:nvPr/>
          </p:nvSpPr>
          <p:spPr>
            <a:xfrm rot="5400000">
              <a:off x="15859452" y="6057233"/>
              <a:ext cx="12379413" cy="290346"/>
            </a:xfrm>
            <a:custGeom>
              <a:avLst/>
              <a:gdLst/>
              <a:ahLst/>
              <a:cxnLst/>
              <a:rect l="l" t="t" r="r" b="b"/>
              <a:pathLst>
                <a:path w="12379413" h="290346" extrusionOk="0">
                  <a:moveTo>
                    <a:pt x="0" y="0"/>
                  </a:moveTo>
                  <a:lnTo>
                    <a:pt x="12379412" y="0"/>
                  </a:lnTo>
                  <a:lnTo>
                    <a:pt x="12379412" y="290346"/>
                  </a:lnTo>
                  <a:lnTo>
                    <a:pt x="0" y="2903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r="-524" b="-2755511"/>
              </a:stretch>
            </a:blipFill>
            <a:ln>
              <a:noFill/>
            </a:ln>
          </p:spPr>
        </p:sp>
      </p:grpSp>
      <p:sp>
        <p:nvSpPr>
          <p:cNvPr id="431" name="Google Shape;431;p28"/>
          <p:cNvSpPr/>
          <p:nvPr/>
        </p:nvSpPr>
        <p:spPr>
          <a:xfrm rot="2406556">
            <a:off x="2592045" y="339944"/>
            <a:ext cx="2851399" cy="285138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8578" t="-29533" r="-25045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8"/>
          <p:cNvSpPr txBox="1"/>
          <p:nvPr/>
        </p:nvSpPr>
        <p:spPr>
          <a:xfrm>
            <a:off x="3729073" y="3765012"/>
            <a:ext cx="10829854" cy="1376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1557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you!</a:t>
            </a:r>
            <a:endParaRPr/>
          </a:p>
        </p:txBody>
      </p:sp>
      <p:sp>
        <p:nvSpPr>
          <p:cNvPr id="434" name="Google Shape;434;p28"/>
          <p:cNvSpPr/>
          <p:nvPr/>
        </p:nvSpPr>
        <p:spPr>
          <a:xfrm rot="-6155915">
            <a:off x="13130372" y="2462487"/>
            <a:ext cx="1302216" cy="1302210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24901" r="-24901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8"/>
          <p:cNvSpPr/>
          <p:nvPr/>
        </p:nvSpPr>
        <p:spPr>
          <a:xfrm>
            <a:off x="8666431" y="7478806"/>
            <a:ext cx="1428346" cy="1428340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26773" r="-26772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Agency Pitch Deck">
  <a:themeElements>
    <a:clrScheme name="Office">
      <a:dk1>
        <a:srgbClr val="1557FF"/>
      </a:dk1>
      <a:lt1>
        <a:srgbClr val="FFFFFF"/>
      </a:lt1>
      <a:dk2>
        <a:srgbClr val="4F7DCF"/>
      </a:dk2>
      <a:lt2>
        <a:srgbClr val="7EB7E8"/>
      </a:lt2>
      <a:accent1>
        <a:srgbClr val="CDFFD8"/>
      </a:accent1>
      <a:accent2>
        <a:srgbClr val="888888"/>
      </a:accent2>
      <a:accent3>
        <a:srgbClr val="191919"/>
      </a:accent3>
      <a:accent4>
        <a:srgbClr val="1557FF"/>
      </a:accent4>
      <a:accent5>
        <a:srgbClr val="4F7DCF"/>
      </a:accent5>
      <a:accent6>
        <a:srgbClr val="CDFFD8"/>
      </a:accent6>
      <a:hlink>
        <a:srgbClr val="1557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523</Words>
  <Application>Microsoft Office PowerPoint</Application>
  <PresentationFormat>Custom</PresentationFormat>
  <Paragraphs>50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Archivo Black</vt:lpstr>
      <vt:lpstr>Calibri</vt:lpstr>
      <vt:lpstr>Montserrat</vt:lpstr>
      <vt:lpstr>Arial</vt:lpstr>
      <vt:lpstr>AI Agency Pitch Deck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Statistical Learning Theory </vt:lpstr>
      <vt:lpstr>Optimization Theory in Machine Learning  </vt:lpstr>
      <vt:lpstr>PowerPoint Presentation</vt:lpstr>
      <vt:lpstr>Key Concepts of Information Theory </vt:lpstr>
      <vt:lpstr>Algorithmic Computational Complexity </vt:lpstr>
      <vt:lpstr>Summary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Hamster</dc:creator>
  <cp:lastModifiedBy>Myo Myint Oo</cp:lastModifiedBy>
  <cp:revision>1</cp:revision>
  <dcterms:modified xsi:type="dcterms:W3CDTF">2025-10-26T02:50:41Z</dcterms:modified>
</cp:coreProperties>
</file>